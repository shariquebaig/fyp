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6.jpg" ContentType="image/jp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D9037AF-95F6-B7B0-661B-6B0CCCD89E72}">
          <p14:sldIdLst>
            <p14:sldId id="256"/>
          </p14:sldIdLst>
        </p14:section>
        <p14:section name="Problem" id="{E15E63CA-53C8-7885-726D-B873F1E4BC00}">
          <p14:sldIdLst>
            <p14:sldId id="257"/>
            <p14:sldId id="258"/>
          </p14:sldIdLst>
        </p14:section>
        <p14:section name="Context" id="{71C6E2A4-ADAF-FE01-C618-2F8C1474B490}">
          <p14:sldIdLst>
            <p14:sldId id="259"/>
          </p14:sldIdLst>
        </p14:section>
        <p14:section name="Approach" id="{0A7D4B36-D164-BC2B-BF29-30918F1DE8D1}">
          <p14:sldIdLst>
            <p14:sldId id="260"/>
            <p14:sldId id="261"/>
          </p14:sldIdLst>
        </p14:section>
        <p14:section name="Evidence" id="{A6BD0F4A-8E8E-096E-6E10-93D95D5C13A2}">
          <p14:sldIdLst>
            <p14:sldId id="262"/>
            <p14:sldId id="263"/>
            <p14:sldId id="264"/>
            <p14:sldId id="265"/>
          </p14:sldIdLst>
        </p14:section>
        <p14:section name="Demo" id="{776019F2-CBCC-8348-B7DF-9A2AB172908C}">
          <p14:sldIdLst>
            <p14:sldId id="266"/>
          </p14:sldIdLst>
        </p14:section>
        <p14:section name="Close" id="{2DC09EFE-B3EB-E9E9-5FD3-23D156B760F6}">
          <p14:sldIdLst>
            <p14:sldId id="267"/>
            <p14:sldId id="268"/>
            <p14:sldId id="269"/>
          </p14:sldIdLst>
        </p14:section>
        <p14:section name="FAQ" id="{95FECD38-20FC-3AFC-E6EF-4A7454AC1BC8}">
          <p14:sldIdLst>
            <p14:sldId id="270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02DD5D-03D1-4FB6-8936-03F0EF6AE5A3}" v="5" dt="2026-10-29T13:37:01.2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hammad Baig" userId="9e391c9c-4a86-4ccf-b1af-be7858601e98" providerId="ADAL" clId="{AF192224-BF7A-47DA-84FC-CD48B002FA0D}"/>
    <pc:docChg chg="undo custSel modSld">
      <pc:chgData name="Muhammad Baig" userId="9e391c9c-4a86-4ccf-b1af-be7858601e98" providerId="ADAL" clId="{AF192224-BF7A-47DA-84FC-CD48B002FA0D}" dt="2026-10-29T13:42:26.891" v="197" actId="1035"/>
      <pc:docMkLst>
        <pc:docMk/>
      </pc:docMkLst>
      <pc:sldChg chg="addSp delSp modSp mod">
        <pc:chgData name="Muhammad Baig" userId="9e391c9c-4a86-4ccf-b1af-be7858601e98" providerId="ADAL" clId="{AF192224-BF7A-47DA-84FC-CD48B002FA0D}" dt="2026-10-29T13:41:34.703" v="196" actId="1035"/>
        <pc:sldMkLst>
          <pc:docMk/>
          <pc:sldMk cId="0" sldId="256"/>
        </pc:sldMkLst>
        <pc:spChg chg="del">
          <ac:chgData name="Muhammad Baig" userId="9e391c9c-4a86-4ccf-b1af-be7858601e98" providerId="ADAL" clId="{AF192224-BF7A-47DA-84FC-CD48B002FA0D}" dt="2026-10-29T13:26:46.406" v="3" actId="478"/>
          <ac:spMkLst>
            <pc:docMk/>
            <pc:sldMk cId="0" sldId="256"/>
            <ac:spMk id="2" creationId="{00000000-0000-0000-0000-000000000000}"/>
          </ac:spMkLst>
        </pc:spChg>
        <pc:spChg chg="del">
          <ac:chgData name="Muhammad Baig" userId="9e391c9c-4a86-4ccf-b1af-be7858601e98" providerId="ADAL" clId="{AF192224-BF7A-47DA-84FC-CD48B002FA0D}" dt="2026-10-29T13:26:44.219" v="2" actId="478"/>
          <ac:spMkLst>
            <pc:docMk/>
            <pc:sldMk cId="0" sldId="256"/>
            <ac:spMk id="3" creationId="{00000000-0000-0000-0000-000000000000}"/>
          </ac:spMkLst>
        </pc:spChg>
        <pc:spChg chg="del">
          <ac:chgData name="Muhammad Baig" userId="9e391c9c-4a86-4ccf-b1af-be7858601e98" providerId="ADAL" clId="{AF192224-BF7A-47DA-84FC-CD48B002FA0D}" dt="2026-10-29T13:28:45.458" v="12" actId="478"/>
          <ac:spMkLst>
            <pc:docMk/>
            <pc:sldMk cId="0" sldId="256"/>
            <ac:spMk id="4" creationId="{00000000-0000-0000-0000-000000000000}"/>
          </ac:spMkLst>
        </pc:spChg>
        <pc:spChg chg="del">
          <ac:chgData name="Muhammad Baig" userId="9e391c9c-4a86-4ccf-b1af-be7858601e98" providerId="ADAL" clId="{AF192224-BF7A-47DA-84FC-CD48B002FA0D}" dt="2026-10-29T13:28:43.542" v="11" actId="478"/>
          <ac:spMkLst>
            <pc:docMk/>
            <pc:sldMk cId="0" sldId="256"/>
            <ac:spMk id="5" creationId="{00000000-0000-0000-0000-000000000000}"/>
          </ac:spMkLst>
        </pc:spChg>
        <pc:spChg chg="mod">
          <ac:chgData name="Muhammad Baig" userId="9e391c9c-4a86-4ccf-b1af-be7858601e98" providerId="ADAL" clId="{AF192224-BF7A-47DA-84FC-CD48B002FA0D}" dt="2026-10-29T13:32:46.115" v="156" actId="20577"/>
          <ac:spMkLst>
            <pc:docMk/>
            <pc:sldMk cId="0" sldId="256"/>
            <ac:spMk id="12" creationId="{00000000-0000-0000-0000-000000000000}"/>
          </ac:spMkLst>
        </pc:spChg>
        <pc:spChg chg="add mod ord">
          <ac:chgData name="Muhammad Baig" userId="9e391c9c-4a86-4ccf-b1af-be7858601e98" providerId="ADAL" clId="{AF192224-BF7A-47DA-84FC-CD48B002FA0D}" dt="2026-10-29T13:41:34.703" v="196" actId="1035"/>
          <ac:spMkLst>
            <pc:docMk/>
            <pc:sldMk cId="0" sldId="256"/>
            <ac:spMk id="17" creationId="{333BEC9B-6A31-EA8A-051D-C032C5B804B7}"/>
          </ac:spMkLst>
        </pc:spChg>
        <pc:picChg chg="add mod">
          <ac:chgData name="Muhammad Baig" userId="9e391c9c-4a86-4ccf-b1af-be7858601e98" providerId="ADAL" clId="{AF192224-BF7A-47DA-84FC-CD48B002FA0D}" dt="2026-10-29T13:41:34.703" v="196" actId="1035"/>
          <ac:picMkLst>
            <pc:docMk/>
            <pc:sldMk cId="0" sldId="256"/>
            <ac:picMk id="14" creationId="{86917E86-0BF3-AD16-A6C7-301C9611AE56}"/>
          </ac:picMkLst>
        </pc:picChg>
        <pc:picChg chg="add mod">
          <ac:chgData name="Muhammad Baig" userId="9e391c9c-4a86-4ccf-b1af-be7858601e98" providerId="ADAL" clId="{AF192224-BF7A-47DA-84FC-CD48B002FA0D}" dt="2026-10-29T13:41:34.703" v="196" actId="1035"/>
          <ac:picMkLst>
            <pc:docMk/>
            <pc:sldMk cId="0" sldId="256"/>
            <ac:picMk id="16" creationId="{5C73AF20-D7B0-D30B-72A2-AE2E980CC268}"/>
          </ac:picMkLst>
        </pc:picChg>
      </pc:sldChg>
      <pc:sldChg chg="addSp delSp modSp mod">
        <pc:chgData name="Muhammad Baig" userId="9e391c9c-4a86-4ccf-b1af-be7858601e98" providerId="ADAL" clId="{AF192224-BF7A-47DA-84FC-CD48B002FA0D}" dt="2026-10-29T13:37:01.925" v="192"/>
        <pc:sldMkLst>
          <pc:docMk/>
          <pc:sldMk cId="0" sldId="257"/>
        </pc:sldMkLst>
        <pc:spChg chg="add del mod">
          <ac:chgData name="Muhammad Baig" userId="9e391c9c-4a86-4ccf-b1af-be7858601e98" providerId="ADAL" clId="{AF192224-BF7A-47DA-84FC-CD48B002FA0D}" dt="2026-10-29T13:36:59.994" v="186"/>
          <ac:spMkLst>
            <pc:docMk/>
            <pc:sldMk cId="0" sldId="257"/>
            <ac:spMk id="22" creationId="{26E1BDBA-72E1-2F10-144D-9D95F9195095}"/>
          </ac:spMkLst>
        </pc:spChg>
        <pc:spChg chg="add del mod">
          <ac:chgData name="Muhammad Baig" userId="9e391c9c-4a86-4ccf-b1af-be7858601e98" providerId="ADAL" clId="{AF192224-BF7A-47DA-84FC-CD48B002FA0D}" dt="2026-10-29T13:37:00.728" v="189"/>
          <ac:spMkLst>
            <pc:docMk/>
            <pc:sldMk cId="0" sldId="257"/>
            <ac:spMk id="23" creationId="{6F0B1CED-5C1C-7E5C-9C8C-0F49DDE0F53F}"/>
          </ac:spMkLst>
        </pc:spChg>
        <pc:spChg chg="add del mod">
          <ac:chgData name="Muhammad Baig" userId="9e391c9c-4a86-4ccf-b1af-be7858601e98" providerId="ADAL" clId="{AF192224-BF7A-47DA-84FC-CD48B002FA0D}" dt="2026-10-29T13:37:01.925" v="192"/>
          <ac:spMkLst>
            <pc:docMk/>
            <pc:sldMk cId="0" sldId="257"/>
            <ac:spMk id="24" creationId="{CDC44D51-1BAB-B33C-7189-76BDBAD9A6D5}"/>
          </ac:spMkLst>
        </pc:spChg>
      </pc:sldChg>
      <pc:sldChg chg="addSp delSp modSp mod">
        <pc:chgData name="Muhammad Baig" userId="9e391c9c-4a86-4ccf-b1af-be7858601e98" providerId="ADAL" clId="{AF192224-BF7A-47DA-84FC-CD48B002FA0D}" dt="2026-10-29T13:36:53.358" v="183"/>
        <pc:sldMkLst>
          <pc:docMk/>
          <pc:sldMk cId="0" sldId="258"/>
        </pc:sldMkLst>
        <pc:spChg chg="add del mod">
          <ac:chgData name="Muhammad Baig" userId="9e391c9c-4a86-4ccf-b1af-be7858601e98" providerId="ADAL" clId="{AF192224-BF7A-47DA-84FC-CD48B002FA0D}" dt="2026-10-29T13:36:51.887" v="180"/>
          <ac:spMkLst>
            <pc:docMk/>
            <pc:sldMk cId="0" sldId="258"/>
            <ac:spMk id="24" creationId="{C4880531-36AF-A989-CEB2-189E33444E9C}"/>
          </ac:spMkLst>
        </pc:spChg>
        <pc:spChg chg="add del mod">
          <ac:chgData name="Muhammad Baig" userId="9e391c9c-4a86-4ccf-b1af-be7858601e98" providerId="ADAL" clId="{AF192224-BF7A-47DA-84FC-CD48B002FA0D}" dt="2026-10-29T13:36:53.358" v="183"/>
          <ac:spMkLst>
            <pc:docMk/>
            <pc:sldMk cId="0" sldId="258"/>
            <ac:spMk id="26" creationId="{CBE18A23-3C01-EFCB-47DF-6EBB79C0053B}"/>
          </ac:spMkLst>
        </pc:spChg>
      </pc:sldChg>
      <pc:sldChg chg="addSp delSp modSp mod">
        <pc:chgData name="Muhammad Baig" userId="9e391c9c-4a86-4ccf-b1af-be7858601e98" providerId="ADAL" clId="{AF192224-BF7A-47DA-84FC-CD48B002FA0D}" dt="2026-10-29T13:42:26.891" v="197" actId="1035"/>
        <pc:sldMkLst>
          <pc:docMk/>
          <pc:sldMk cId="0" sldId="259"/>
        </pc:sldMkLst>
        <pc:spChg chg="del">
          <ac:chgData name="Muhammad Baig" userId="9e391c9c-4a86-4ccf-b1af-be7858601e98" providerId="ADAL" clId="{AF192224-BF7A-47DA-84FC-CD48B002FA0D}" dt="2026-10-29T13:33:20.790" v="158" actId="478"/>
          <ac:spMkLst>
            <pc:docMk/>
            <pc:sldMk cId="0" sldId="259"/>
            <ac:spMk id="5" creationId="{00000000-0000-0000-0000-000000000000}"/>
          </ac:spMkLst>
        </pc:spChg>
        <pc:spChg chg="del">
          <ac:chgData name="Muhammad Baig" userId="9e391c9c-4a86-4ccf-b1af-be7858601e98" providerId="ADAL" clId="{AF192224-BF7A-47DA-84FC-CD48B002FA0D}" dt="2026-10-29T13:33:16.593" v="157" actId="478"/>
          <ac:spMkLst>
            <pc:docMk/>
            <pc:sldMk cId="0" sldId="259"/>
            <ac:spMk id="6" creationId="{00000000-0000-0000-0000-000000000000}"/>
          </ac:spMkLst>
        </pc:spChg>
        <pc:picChg chg="add mod">
          <ac:chgData name="Muhammad Baig" userId="9e391c9c-4a86-4ccf-b1af-be7858601e98" providerId="ADAL" clId="{AF192224-BF7A-47DA-84FC-CD48B002FA0D}" dt="2026-10-29T13:42:26.891" v="197" actId="1035"/>
          <ac:picMkLst>
            <pc:docMk/>
            <pc:sldMk cId="0" sldId="259"/>
            <ac:picMk id="26" creationId="{7C46508A-7C20-87C5-E252-AA4FBE1E5F49}"/>
          </ac:picMkLst>
        </pc:picChg>
      </pc:sldChg>
      <pc:sldChg chg="modSp mod">
        <pc:chgData name="Muhammad Baig" userId="9e391c9c-4a86-4ccf-b1af-be7858601e98" providerId="ADAL" clId="{AF192224-BF7A-47DA-84FC-CD48B002FA0D}" dt="2026-10-29T13:36:17.917" v="177" actId="20577"/>
        <pc:sldMkLst>
          <pc:docMk/>
          <pc:sldMk cId="0" sldId="260"/>
        </pc:sldMkLst>
        <pc:spChg chg="mod">
          <ac:chgData name="Muhammad Baig" userId="9e391c9c-4a86-4ccf-b1af-be7858601e98" providerId="ADAL" clId="{AF192224-BF7A-47DA-84FC-CD48B002FA0D}" dt="2026-10-29T13:36:17.917" v="177" actId="20577"/>
          <ac:spMkLst>
            <pc:docMk/>
            <pc:sldMk cId="0" sldId="260"/>
            <ac:spMk id="2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Rules ladder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B212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Planted labels</c:v>
                </c:pt>
                <c:pt idx="1">
                  <c:v>+ reworded text</c:v>
                </c:pt>
                <c:pt idx="2">
                  <c:v>+ ids rotated + control moved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BF8-401B-B3BC-E43A6E5E33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Bare model</c:v>
                </c:pt>
              </c:strCache>
            </c:strRef>
          </c:tx>
          <c:spPr>
            <a:solidFill>
              <a:srgbClr val="4B5563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B212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Planted labels</c:v>
                </c:pt>
                <c:pt idx="1">
                  <c:v>+ reworded text</c:v>
                </c:pt>
                <c:pt idx="2">
                  <c:v>+ ids rotated + control moved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BF8-401B-B3BC-E43A6E5E33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Ladder + model + check</c:v>
                </c:pt>
              </c:strCache>
            </c:strRef>
          </c:tx>
          <c:spPr>
            <a:solidFill>
              <a:srgbClr val="6B1A2A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B212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Planted labels</c:v>
                </c:pt>
                <c:pt idx="1">
                  <c:v>+ reworded text</c:v>
                </c:pt>
                <c:pt idx="2">
                  <c:v>+ ids rotated + control moved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BF8-401B-B3BC-E43A6E5E338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1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1E6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Recorded script</c:v>
                </c:pt>
              </c:strCache>
            </c:strRef>
          </c:tx>
          <c:spPr>
            <a:solidFill>
              <a:srgbClr val="8A8F98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B212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Clean</c:v>
                </c:pt>
                <c:pt idx="1">
                  <c:v>Reworded</c:v>
                </c:pt>
                <c:pt idx="2">
                  <c:v>+ ids rotated</c:v>
                </c:pt>
                <c:pt idx="3">
                  <c:v>+ control moved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AB-49A5-9D77-73DC6C67EDA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Rules ladder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B212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Clean</c:v>
                </c:pt>
                <c:pt idx="1">
                  <c:v>Reworded</c:v>
                </c:pt>
                <c:pt idx="2">
                  <c:v>+ ids rotated</c:v>
                </c:pt>
                <c:pt idx="3">
                  <c:v>+ control moved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9AB-49A5-9D77-73DC6C67EDA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Ladder + model + check</c:v>
                </c:pt>
              </c:strCache>
            </c:strRef>
          </c:tx>
          <c:spPr>
            <a:solidFill>
              <a:srgbClr val="6B1A2A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B212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Clean</c:v>
                </c:pt>
                <c:pt idx="1">
                  <c:v>Reworded</c:v>
                </c:pt>
                <c:pt idx="2">
                  <c:v>+ ids rotated</c:v>
                </c:pt>
                <c:pt idx="3">
                  <c:v>+ control moved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9AB-49A5-9D77-73DC6C67ED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1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1E6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B212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English</c:v>
                </c:pt>
                <c:pt idx="1">
                  <c:v>French</c:v>
                </c:pt>
                <c:pt idx="2">
                  <c:v>Font × 1.6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20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56-4EA5-A779-DE3817A3F9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Ladder + model + check</c:v>
                </c:pt>
              </c:strCache>
            </c:strRef>
          </c:tx>
          <c:spPr>
            <a:solidFill>
              <a:srgbClr val="6B1A2A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B2124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English</c:v>
                </c:pt>
                <c:pt idx="1">
                  <c:v>French</c:v>
                </c:pt>
                <c:pt idx="2">
                  <c:v>Font × 1.6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356-4EA5-A779-DE3817A3F93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1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1E6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3947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Introduce the team. One sentence: we built an assistant-side tool that operates apps by goal, checks each step, and stops honestly. Today: why, how, evidence,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1:30. Motivation. Keep it human: the user who cannot take over. The 78% to 2% figure is from hierdump on stock Android Settings (name-aware figure is the one we quote).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The poster is where we started. Be explicit: Daraz and OLX are the motivating class, not an evaluated target. We measured protection behaviour; we did not build a bypass.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2:00. Fill the ISECOM bullets from the team before presenting. Synthie description is from one instance's own account (Hematite); say so if asked. Flow: the synthie says a goal, the tool does the screen work, a plain-words result comes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1:30. Real output from the harness under break B8 (control hidden). Contrast with a recorded script that clicks nothing and reports no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2:00. Walk left to right. Stress: the model is the last resort and never trusted; the success check is independent of how the control was found. Vision numbers each on-screen control so the model can answer "badge 7".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Keep it brisk. Emphasise that every arm runs the same 9-step flow on the same broken app, and that success is judged by the next screen, not by absence of an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1:30. All real rules-only numbers (N=10 per cell). Point at B8 and the seven/eight-at-once rows: the ladder does not claim to survive everything. It stops honestly. Poster says "9/9 under UI chaos": we say "under each single change we tried, and combinations up to four".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1:30. DOM rotation and tree suppression were slide 8 (B1, B2, B6, B7, B8). This slide is hostile text (B11). Be honest: one fixed, naive injection string on three controls, so say "this planted-label attack", not "prompt injection in general". Replace illustrative values after the re-run publishes: rebuild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1:30. Android numbers are real (French: rules 2/10, hybrid 10/10; font 1.6: 8/10 for every arm because nothing scrolls). Web chart values are placeholders until the re-run is published. Vision (no words at all): the screenshot did not beat text at N=5; say so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4:00 total. Open the emulator window before you start. If anything stalls, switch to the recorded video for steps 1-3 and skip step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This slide earns trust. Lead with what we do not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End on the claim we can defend,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IBA Karachi  ·  Final Year Project  ·  Kenna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 txBox="1"/>
          <p:nvPr/>
        </p:nvSpPr>
        <p:spPr>
          <a:xfrm>
            <a:off x="54864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chemeClr val="accent5"/>
                </a:solidFill>
              </a:rPr>
              <a:t>FINAL YEAR PROJECT · MVP DEFENSE</a:t>
            </a:r>
            <a:endParaRPr lang="en-US" sz="14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Self-healing, verified GUI automation for accessible AI assistants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Say the goal, never the locator. Check every step on the next screen. Stop honestly when it cannot be done.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Sharique Baig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28369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Maira Aijaz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28552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Barkhi Khan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29261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Supervisor: Faisal </a:t>
            </a:r>
            <a:r>
              <a:rPr lang="en-US" sz="1400" dirty="0" err="1">
                <a:solidFill>
                  <a:schemeClr val="accent5"/>
                </a:solidFill>
              </a:rPr>
              <a:t>Iradat</a:t>
            </a:r>
            <a:r>
              <a:rPr lang="en-US" sz="1400" dirty="0">
                <a:solidFill>
                  <a:schemeClr val="accent5"/>
                </a:solidFill>
              </a:rPr>
              <a:t>   ·   Institute of Business Administration, Karachi</a:t>
            </a:r>
            <a:endParaRPr lang="en-US" sz="1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6917E86-0BF3-AD16-A6C7-301C9611A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"/>
            <a:ext cx="1959970" cy="99322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33BEC9B-6A31-EA8A-051D-C032C5B804B7}"/>
              </a:ext>
            </a:extLst>
          </p:cNvPr>
          <p:cNvSpPr/>
          <p:nvPr/>
        </p:nvSpPr>
        <p:spPr>
          <a:xfrm>
            <a:off x="8119240" y="402021"/>
            <a:ext cx="3618187" cy="74097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C73AF20-D7B0-D30B-72A2-AE2E980CC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5366" y="288294"/>
            <a:ext cx="3329240" cy="969682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Why this matters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Assistants operate apps never built for them, and users cannot always take over when a step fails</a:t>
            </a:r>
            <a:endParaRPr lang="en-US" sz="1800" dirty="0"/>
          </a:p>
        </p:txBody>
      </p:sp>
      <p:sp>
        <p:nvSpPr>
          <p:cNvPr id="4" name="why icon 1 disc"/>
          <p:cNvSpPr/>
          <p:nvPr/>
        </p:nvSpPr>
        <p:spPr>
          <a:xfrm>
            <a:off x="54864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why icon 1" descr="Plug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195864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83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No API to call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219456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Many everyday apps, stores and legacy tools expose only a screen. Where an API or MCP exists, use it; this is for the rest.</a:t>
            </a:r>
            <a:endParaRPr lang="en-US" sz="1500" dirty="0"/>
          </a:p>
        </p:txBody>
      </p:sp>
      <p:sp>
        <p:nvSpPr>
          <p:cNvPr id="8" name="why icon 2 disc"/>
          <p:cNvSpPr/>
          <p:nvPr/>
        </p:nvSpPr>
        <p:spPr>
          <a:xfrm>
            <a:off x="548640" y="3246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why icon 2" descr="Bu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42168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2461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Recorded scripts break silently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554480" y="36576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One renamed id and a recorded click goes nowhere. Worse, nothing checks that the goal was actually reached.</a:t>
            </a:r>
            <a:endParaRPr lang="en-US" sz="1500" dirty="0"/>
          </a:p>
        </p:txBody>
      </p:sp>
      <p:sp>
        <p:nvSpPr>
          <p:cNvPr id="12" name="why icon 3 disc"/>
          <p:cNvSpPr/>
          <p:nvPr/>
        </p:nvSpPr>
        <p:spPr>
          <a:xfrm>
            <a:off x="548640" y="47091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why icon 3" descr="UniversalAccess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5" y="4884725"/>
            <a:ext cx="380390" cy="38039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54480" y="4709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The user may not be able to step in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554480" y="5120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For a blind or motor-impaired user, "please do this step yourself" is not a fallback. The assistant has to be right, or say clearly that it is not.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89520" y="1783080"/>
            <a:ext cx="4050792" cy="4297680"/>
          </a:xfrm>
          <a:prstGeom prst="roundRect">
            <a:avLst>
              <a:gd name="adj" fmla="val 18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 txBox="1"/>
          <p:nvPr/>
        </p:nvSpPr>
        <p:spPr>
          <a:xfrm>
            <a:off x="786384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4"/>
                </a:solidFill>
              </a:rPr>
              <a:t>MEASURED ON ANDROID SETTINGS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7863840" y="23317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6000" dirty="0"/>
          </a:p>
        </p:txBody>
      </p:sp>
      <p:sp>
        <p:nvSpPr>
          <p:cNvPr id="19" name="Text 14"/>
          <p:cNvSpPr txBox="1"/>
          <p:nvPr/>
        </p:nvSpPr>
        <p:spPr>
          <a:xfrm>
            <a:off x="7863840" y="32461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of controls look nameless judged by their own attributes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7863840" y="40233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2%</a:t>
            </a:r>
            <a:endParaRPr lang="en-US" sz="6000" dirty="0"/>
          </a:p>
        </p:txBody>
      </p:sp>
      <p:sp>
        <p:nvSpPr>
          <p:cNvPr id="21" name="Text 16"/>
          <p:cNvSpPr txBox="1"/>
          <p:nvPr/>
        </p:nvSpPr>
        <p:spPr>
          <a:xfrm>
            <a:off x="7863840" y="4937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once the labels inside a clickable row count, the way a screen reader names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Three kinds of platform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Where this project sits, and what we actually evaluated</a:t>
            </a:r>
            <a:endParaRPr lang="en-US" sz="1800" dirty="0"/>
          </a:p>
        </p:txBody>
      </p:sp>
      <p:sp>
        <p:nvSpPr>
          <p:cNvPr id="4" name="poster frame"/>
          <p:cNvSpPr/>
          <p:nvPr/>
        </p:nvSpPr>
        <p:spPr>
          <a:xfrm>
            <a:off x="512064" y="1655064"/>
            <a:ext cx="3384499" cy="4507992"/>
          </a:xfrm>
          <a:prstGeom prst="rect">
            <a:avLst/>
          </a:prstGeom>
          <a:solidFill>
            <a:schemeClr val="bg1"/>
          </a:solidFill>
          <a:ln w="9525">
            <a:solidFill>
              <a:srgbClr val="8A8F98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FYP poster" descr="Our FYP poster: Beyond MCPs, self-healing and adversarially resilient GUI ag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3311347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80027" y="1691640"/>
            <a:ext cx="746302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platform icon 1 disc"/>
          <p:cNvSpPr/>
          <p:nvPr/>
        </p:nvSpPr>
        <p:spPr>
          <a:xfrm>
            <a:off x="4454347" y="201168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platform icon 1" descr="Plu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912" y="21872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60187" y="1874520"/>
            <a:ext cx="35311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Agent-native</a:t>
            </a:r>
            <a:r>
              <a:rPr lang="en-US" sz="1300" i="1" dirty="0">
                <a:solidFill>
                  <a:schemeClr val="accent4"/>
                </a:solidFill>
              </a:rPr>
              <a:t>   Vercel, Stripe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APIs and MCP servers. Use them.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9128455" y="224028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 txBox="1"/>
          <p:nvPr/>
        </p:nvSpPr>
        <p:spPr>
          <a:xfrm>
            <a:off x="9128455" y="2240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5E4F"/>
                </a:solidFill>
              </a:rPr>
              <a:t>Out of scope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180027" y="3200400"/>
            <a:ext cx="746302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platform icon 2 disc"/>
          <p:cNvSpPr/>
          <p:nvPr/>
        </p:nvSpPr>
        <p:spPr>
          <a:xfrm>
            <a:off x="4454347" y="35204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platform icon 2" descr="Cogs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9912" y="3696005"/>
            <a:ext cx="380390" cy="38039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60187" y="3383280"/>
            <a:ext cx="35311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Legacy local apps</a:t>
            </a:r>
            <a:r>
              <a:rPr lang="en-US" sz="1300" i="1" dirty="0">
                <a:solidFill>
                  <a:schemeClr val="accent4"/>
                </a:solidFill>
              </a:rPr>
              <a:t>   Daraz, OLX-style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API, unlabeled buttons, frequent breakage. Our target class.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9128455" y="374904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BEF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 txBox="1"/>
          <p:nvPr/>
        </p:nvSpPr>
        <p:spPr>
          <a:xfrm>
            <a:off x="9128455" y="3749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5A00"/>
                </a:solidFill>
              </a:rPr>
              <a:t>Mock app + Android Settings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180027" y="4709160"/>
            <a:ext cx="746302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platform icon 3 disc"/>
          <p:cNvSpPr/>
          <p:nvPr/>
        </p:nvSpPr>
        <p:spPr>
          <a:xfrm>
            <a:off x="4454347" y="5029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platform icon 3" descr="Lock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9912" y="520476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60187" y="4892040"/>
            <a:ext cx="35311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Agent-hostile</a:t>
            </a:r>
            <a:r>
              <a:rPr lang="en-US" sz="1300" i="1" dirty="0">
                <a:solidFill>
                  <a:schemeClr val="accent4"/>
                </a:solidFill>
              </a:rPr>
              <a:t>   Instagram-style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Anti-bot defences and UI suppression.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9128455" y="525780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8E3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9128455" y="5257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3B0B"/>
                </a:solidFill>
              </a:rPr>
              <a:t>Measured, never evaded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Synthies and ISECOM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The kind of agent that uses our tool, and who we are working with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2788920" y="2011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ISECOM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isecom.org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Who they are: [one line, confirm wording with the team]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Our collaboration: [what ISECOM provides or uses]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What it means for this work: [e.g. a real agent consumer]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42239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ynthie icon disc"/>
          <p:cNvSpPr/>
          <p:nvPr/>
        </p:nvSpPr>
        <p:spPr>
          <a:xfrm>
            <a:off x="6492240" y="19659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synthie icon" descr="Robo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130552"/>
            <a:ext cx="356616" cy="35661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36092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</a:rPr>
              <a:t>Synthies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360920" y="2377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long-running agents with an identity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2880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Run continuously on their own host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Have a chat identity and an owner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Act through a typed tool set, with logged actions</a:t>
            </a:r>
            <a:endParaRPr lang="en-US" sz="1500" dirty="0"/>
          </a:p>
        </p:txBody>
      </p:sp>
      <p:sp>
        <p:nvSpPr>
          <p:cNvPr id="16" name="flow Synthie"/>
          <p:cNvSpPr/>
          <p:nvPr/>
        </p:nvSpPr>
        <p:spPr>
          <a:xfrm>
            <a:off x="548640" y="5074920"/>
            <a:ext cx="3108960" cy="868680"/>
          </a:xfrm>
          <a:prstGeom prst="roundRect">
            <a:avLst>
              <a:gd name="adj" fmla="val 10526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548640" y="50749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Synthie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bg1"/>
                </a:solidFill>
              </a:rPr>
              <a:t>goal, in words</a:t>
            </a:r>
            <a:endParaRPr lang="en-US" sz="1600" dirty="0"/>
          </a:p>
        </p:txBody>
      </p:sp>
      <p:sp>
        <p:nvSpPr>
          <p:cNvPr id="18" name="flow arrow 1"/>
          <p:cNvSpPr/>
          <p:nvPr/>
        </p:nvSpPr>
        <p:spPr>
          <a:xfrm>
            <a:off x="3749040" y="5321808"/>
            <a:ext cx="685800" cy="36576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flow Kenna tool"/>
          <p:cNvSpPr/>
          <p:nvPr/>
        </p:nvSpPr>
        <p:spPr>
          <a:xfrm>
            <a:off x="4526280" y="5074920"/>
            <a:ext cx="310896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4526280" y="50749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Kenna tool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bg1"/>
                </a:solidFill>
              </a:rPr>
              <a:t>ladder + checks</a:t>
            </a:r>
            <a:endParaRPr lang="en-US" sz="1600" dirty="0"/>
          </a:p>
        </p:txBody>
      </p:sp>
      <p:sp>
        <p:nvSpPr>
          <p:cNvPr id="21" name="flow arrow 2"/>
          <p:cNvSpPr/>
          <p:nvPr/>
        </p:nvSpPr>
        <p:spPr>
          <a:xfrm>
            <a:off x="7726680" y="5321808"/>
            <a:ext cx="685800" cy="36576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flow The app"/>
          <p:cNvSpPr/>
          <p:nvPr/>
        </p:nvSpPr>
        <p:spPr>
          <a:xfrm>
            <a:off x="8503920" y="5074920"/>
            <a:ext cx="3108960" cy="868680"/>
          </a:xfrm>
          <a:prstGeom prst="roundRect">
            <a:avLst>
              <a:gd name="adj" fmla="val 10526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8503920" y="50749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The app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chemeClr val="bg1"/>
                </a:solidFill>
              </a:rPr>
              <a:t>web or Android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C46508A-7C20-87C5-E252-AA4FBE1E5F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66" y="2003797"/>
            <a:ext cx="1773622" cy="5165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Our project: Beyond MCPs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An assistant-side tool, governed by three rules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rule icon 1 disc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rule icon 1" descr="Comments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195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2"/>
                </a:solidFill>
              </a:rPr>
              <a:t>Intent, not locator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assistant says "open the create-post flow". It never says which button.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5204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rule icon 2 disc"/>
          <p:cNvSpPr/>
          <p:nvPr/>
        </p:nvSpPr>
        <p:spPr>
          <a:xfrm>
            <a:off x="457200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rule icon 2" descr="CheckCircl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5619" y="211957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2"/>
                </a:solidFill>
              </a:rPr>
              <a:t>Verify on the next screen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154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 step counts only if the next screen shows the goal was reached. "No error" is not success.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46720" y="1783080"/>
            <a:ext cx="35204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rule icon 3 disc"/>
          <p:cNvSpPr/>
          <p:nvPr/>
        </p:nvSpPr>
        <p:spPr>
          <a:xfrm>
            <a:off x="832104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rule icon 3" descr="HandPaper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4659" y="211957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2"/>
                </a:solidFill>
              </a:rPr>
              <a:t>Stop honestly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154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If nothing works, say which step failed and why, in plain first-person words.</a:t>
            </a:r>
            <a:endParaRPr lang="en-US" sz="1400" dirty="0"/>
          </a:p>
        </p:txBody>
      </p:sp>
      <p:sp>
        <p:nvSpPr>
          <p:cNvPr id="19" name="honest message panel"/>
          <p:cNvSpPr/>
          <p:nvPr/>
        </p:nvSpPr>
        <p:spPr>
          <a:xfrm>
            <a:off x="548640" y="4434840"/>
            <a:ext cx="11094415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 txBox="1"/>
          <p:nvPr/>
        </p:nvSpPr>
        <p:spPr>
          <a:xfrm>
            <a:off x="868680" y="45720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WHAT THE USER HEARS WHEN A CONTROL CANNOT BE REACHED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9377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could not finish the step ‘Open the create-post flow’ – I cannot identify a control for this step. You may need to do this step yourself."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How it works: the ladder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Try cheap, readable routes first. Ask a model only when every rule route fails</a:t>
            </a:r>
            <a:endParaRPr lang="en-US" sz="1800" dirty="0"/>
          </a:p>
        </p:txBody>
      </p:sp>
      <p:sp>
        <p:nvSpPr>
          <p:cNvPr id="4" name="rung id"/>
          <p:cNvSpPr/>
          <p:nvPr/>
        </p:nvSpPr>
        <p:spPr>
          <a:xfrm>
            <a:off x="548640" y="1783080"/>
            <a:ext cx="1481328" cy="96012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id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recorded hook</a:t>
            </a:r>
            <a:endParaRPr lang="en-US" sz="1600" dirty="0"/>
          </a:p>
        </p:txBody>
      </p:sp>
      <p:sp>
        <p:nvSpPr>
          <p:cNvPr id="6" name="rung label"/>
          <p:cNvSpPr/>
          <p:nvPr/>
        </p:nvSpPr>
        <p:spPr>
          <a:xfrm>
            <a:off x="2121408" y="1783080"/>
            <a:ext cx="1481328" cy="96012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2121408" y="178308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label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accessible name</a:t>
            </a:r>
            <a:endParaRPr lang="en-US" sz="1600" dirty="0"/>
          </a:p>
        </p:txBody>
      </p:sp>
      <p:sp>
        <p:nvSpPr>
          <p:cNvPr id="8" name="rung text"/>
          <p:cNvSpPr/>
          <p:nvPr/>
        </p:nvSpPr>
        <p:spPr>
          <a:xfrm>
            <a:off x="3694176" y="1783080"/>
            <a:ext cx="1481328" cy="96012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694176" y="178308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text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visible words</a:t>
            </a:r>
            <a:endParaRPr lang="en-US" sz="1600" dirty="0"/>
          </a:p>
        </p:txBody>
      </p:sp>
      <p:sp>
        <p:nvSpPr>
          <p:cNvPr id="10" name="rung scoped"/>
          <p:cNvSpPr/>
          <p:nvPr/>
        </p:nvSpPr>
        <p:spPr>
          <a:xfrm>
            <a:off x="5266944" y="1783080"/>
            <a:ext cx="1481328" cy="96012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266944" y="178308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scoped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inside a container</a:t>
            </a:r>
            <a:endParaRPr lang="en-US" sz="1600" dirty="0"/>
          </a:p>
        </p:txBody>
      </p:sp>
      <p:sp>
        <p:nvSpPr>
          <p:cNvPr id="12" name="rung learned"/>
          <p:cNvSpPr/>
          <p:nvPr/>
        </p:nvSpPr>
        <p:spPr>
          <a:xfrm>
            <a:off x="6839712" y="1783080"/>
            <a:ext cx="1481328" cy="960120"/>
          </a:xfrm>
          <a:prstGeom prst="rect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839712" y="178308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learned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remembered route</a:t>
            </a:r>
            <a:endParaRPr lang="en-US" sz="1600" dirty="0"/>
          </a:p>
        </p:txBody>
      </p:sp>
      <p:sp>
        <p:nvSpPr>
          <p:cNvPr id="14" name="rung model"/>
          <p:cNvSpPr/>
          <p:nvPr/>
        </p:nvSpPr>
        <p:spPr>
          <a:xfrm>
            <a:off x="8412480" y="1783080"/>
            <a:ext cx="1481328" cy="960120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412480" y="178308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model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picks an index</a:t>
            </a:r>
            <a:endParaRPr lang="en-US" sz="1600" dirty="0"/>
          </a:p>
        </p:txBody>
      </p:sp>
      <p:sp>
        <p:nvSpPr>
          <p:cNvPr id="16" name="rung vision"/>
          <p:cNvSpPr/>
          <p:nvPr/>
        </p:nvSpPr>
        <p:spPr>
          <a:xfrm>
            <a:off x="9985248" y="1783080"/>
            <a:ext cx="1481328" cy="96012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985248" y="1783080"/>
            <a:ext cx="14813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vision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sees the screen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8346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chemeClr val="accent1"/>
                </a:solidFill>
              </a:rPr>
              <a:t>RULES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2834640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MEMORY AND MODEL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35204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82296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One control or nothing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8862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 route counts only if it points at exactly one control on screen.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97680" y="3337560"/>
            <a:ext cx="35204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457200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model never acts alone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0" y="38862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It may only answer with an index into the on-screen list. Its pick is a candidate, judged like any other.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046720" y="3337560"/>
            <a:ext cx="35204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32104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Irreversible needs more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38862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Publishing needs confidence ≥ 0.8 and only the first choice.</a:t>
            </a:r>
            <a:endParaRPr lang="en-US" sz="1400" dirty="0"/>
          </a:p>
        </p:txBody>
      </p:sp>
      <p:sp>
        <p:nvSpPr>
          <p:cNvPr id="29" name="check flow 1"/>
          <p:cNvSpPr/>
          <p:nvPr/>
        </p:nvSpPr>
        <p:spPr>
          <a:xfrm>
            <a:off x="548640" y="5257800"/>
            <a:ext cx="246888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48640" y="52578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Candidate control</a:t>
            </a:r>
            <a:endParaRPr lang="en-US" sz="1500" dirty="0"/>
          </a:p>
        </p:txBody>
      </p:sp>
      <p:sp>
        <p:nvSpPr>
          <p:cNvPr id="31" name="check arrow 1"/>
          <p:cNvSpPr/>
          <p:nvPr/>
        </p:nvSpPr>
        <p:spPr>
          <a:xfrm>
            <a:off x="3108960" y="5422392"/>
            <a:ext cx="274320" cy="36576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check flow 2"/>
          <p:cNvSpPr/>
          <p:nvPr/>
        </p:nvSpPr>
        <p:spPr>
          <a:xfrm>
            <a:off x="3383280" y="525780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3383280" y="52578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Act</a:t>
            </a:r>
            <a:endParaRPr lang="en-US" sz="1500" dirty="0"/>
          </a:p>
        </p:txBody>
      </p:sp>
      <p:sp>
        <p:nvSpPr>
          <p:cNvPr id="34" name="check arrow 2"/>
          <p:cNvSpPr/>
          <p:nvPr/>
        </p:nvSpPr>
        <p:spPr>
          <a:xfrm>
            <a:off x="5577840" y="5422392"/>
            <a:ext cx="274320" cy="36576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check flow 3"/>
          <p:cNvSpPr/>
          <p:nvPr/>
        </p:nvSpPr>
        <p:spPr>
          <a:xfrm>
            <a:off x="6035040" y="5257800"/>
            <a:ext cx="310896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 txBox="1"/>
          <p:nvPr/>
        </p:nvSpPr>
        <p:spPr>
          <a:xfrm>
            <a:off x="603504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Success check on the NEXT screen</a:t>
            </a:r>
            <a:endParaRPr lang="en-US" sz="1500" dirty="0"/>
          </a:p>
        </p:txBody>
      </p:sp>
      <p:sp>
        <p:nvSpPr>
          <p:cNvPr id="37" name="check arrow 3"/>
          <p:cNvSpPr/>
          <p:nvPr/>
        </p:nvSpPr>
        <p:spPr>
          <a:xfrm>
            <a:off x="9281160" y="5422392"/>
            <a:ext cx="274320" cy="36576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outcome"/>
          <p:cNvSpPr/>
          <p:nvPr/>
        </p:nvSpPr>
        <p:spPr>
          <a:xfrm>
            <a:off x="9692640" y="5257800"/>
            <a:ext cx="1947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8A8F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 txBox="1"/>
          <p:nvPr/>
        </p:nvSpPr>
        <p:spPr>
          <a:xfrm>
            <a:off x="9692640" y="5257800"/>
            <a:ext cx="1947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Done, or honest stop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How we tested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One 9-step flow, eleven controlled UI changes, five ways of operating the app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383280" cy="420624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4"/>
                </a:solidFill>
              </a:rPr>
              <a:t>THE TASK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  </a:t>
            </a:r>
            <a:r>
              <a:rPr lang="en-US" sz="1400" dirty="0">
                <a:solidFill>
                  <a:schemeClr val="tx1"/>
                </a:solidFill>
              </a:rPr>
              <a:t>Open create-post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 </a:t>
            </a:r>
            <a:r>
              <a:rPr lang="en-US" sz="1400" dirty="0">
                <a:solidFill>
                  <a:schemeClr val="tx1"/>
                </a:solidFill>
              </a:rPr>
              <a:t>Choose a photo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  </a:t>
            </a:r>
            <a:r>
              <a:rPr lang="en-US" sz="1400" dirty="0">
                <a:solidFill>
                  <a:schemeClr val="tx1"/>
                </a:solidFill>
              </a:rPr>
              <a:t>Go to caption step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20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  </a:t>
            </a:r>
            <a:r>
              <a:rPr lang="en-US" sz="1400" dirty="0">
                <a:solidFill>
                  <a:schemeClr val="tx1"/>
                </a:solidFill>
              </a:rPr>
              <a:t>Open More options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931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  </a:t>
            </a:r>
            <a:r>
              <a:rPr lang="en-US" sz="1400" dirty="0">
                <a:solidFill>
                  <a:schemeClr val="tx1"/>
                </a:solidFill>
              </a:rPr>
              <a:t>Go back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 </a:t>
            </a:r>
            <a:r>
              <a:rPr lang="en-US" sz="1400" dirty="0">
                <a:solidFill>
                  <a:schemeClr val="tx1"/>
                </a:solidFill>
              </a:rPr>
              <a:t>Type a caption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54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  </a:t>
            </a:r>
            <a:r>
              <a:rPr lang="en-US" sz="1400" dirty="0">
                <a:solidFill>
                  <a:schemeClr val="tx1"/>
                </a:solidFill>
              </a:rPr>
              <a:t>Turn on AI label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166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  </a:t>
            </a:r>
            <a:r>
              <a:rPr lang="en-US" sz="1400" dirty="0">
                <a:solidFill>
                  <a:schemeClr val="tx1"/>
                </a:solidFill>
              </a:rPr>
              <a:t>Publish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77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9  </a:t>
            </a:r>
            <a:r>
              <a:rPr lang="en-US" sz="1400" dirty="0">
                <a:solidFill>
                  <a:schemeClr val="tx1"/>
                </a:solidFill>
              </a:rPr>
              <a:t>Post is in the feed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0" y="1783080"/>
            <a:ext cx="4114800" cy="4206240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38912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4"/>
                </a:solidFill>
              </a:rPr>
              <a:t>THE UI CHANGES (BREAKS)</a:t>
            </a:r>
            <a:endParaRPr lang="en-US" sz="1100" dirty="0"/>
          </a:p>
        </p:txBody>
      </p:sp>
      <p:sp>
        <p:nvSpPr>
          <p:cNvPr id="17" name="group dot 1"/>
          <p:cNvSpPr/>
          <p:nvPr/>
        </p:nvSpPr>
        <p:spPr>
          <a:xfrm>
            <a:off x="4389120" y="2395728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4754880" y="2331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Locator rot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6609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B1 ids renamed · B4 duplicate control · B5 hidden in a scroller</a:t>
            </a:r>
            <a:endParaRPr lang="en-US" sz="1300" dirty="0"/>
          </a:p>
        </p:txBody>
      </p:sp>
      <p:sp>
        <p:nvSpPr>
          <p:cNvPr id="20" name="group dot 2"/>
          <p:cNvSpPr/>
          <p:nvPr/>
        </p:nvSpPr>
        <p:spPr>
          <a:xfrm>
            <a:off x="4389120" y="3328416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754880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Lost names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59359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B2 labels stripped · B6 bare icon · B9 words reworded</a:t>
            </a:r>
            <a:endParaRPr lang="en-US" sz="1300" dirty="0"/>
          </a:p>
        </p:txBody>
      </p:sp>
      <p:sp>
        <p:nvSpPr>
          <p:cNvPr id="23" name="group dot 3"/>
          <p:cNvSpPr/>
          <p:nvPr/>
        </p:nvSpPr>
        <p:spPr>
          <a:xfrm>
            <a:off x="4389120" y="4261104"/>
            <a:ext cx="201168" cy="201168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4754880" y="41970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Moved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4526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B3 layout reversed · B10 control relocated</a:t>
            </a:r>
            <a:endParaRPr lang="en-US" sz="1300" dirty="0"/>
          </a:p>
        </p:txBody>
      </p:sp>
      <p:sp>
        <p:nvSpPr>
          <p:cNvPr id="26" name="group dot 4"/>
          <p:cNvSpPr/>
          <p:nvPr/>
        </p:nvSpPr>
        <p:spPr>
          <a:xfrm>
            <a:off x="4389120" y="5193792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4754880" y="51297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Hostile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54589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B7 overlay · B8 control hidden · B11 planted instructions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412480" y="1783080"/>
            <a:ext cx="3227832" cy="420624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86868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4"/>
                </a:solidFill>
              </a:rPr>
              <a:t>THE FIVE ARMS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0" y="2286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Recorded script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one locator per step, no checks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686800" y="3017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Rules ladder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our rules, checked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0" y="3749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Bare model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first pick, nothing checked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0" y="44805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Model + check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model only, verified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686800" y="5212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Ladder + model + check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our full system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14476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N = 10 runs per cell · 95% Wilson intervals · model qwen3.7-flash, temperature 0, cached answers (variation in the app and harness, not model sampling)</a:t>
            </a:r>
            <a:endParaRPr lang="en-US" sz="11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Result 1: surviving UI change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Rules only, no model. A recorded script breaks under five of eight single changes</a:t>
            </a:r>
            <a:endParaRPr lang="en-US" sz="1800" dirty="0"/>
          </a:p>
        </p:txBody>
      </p:sp>
      <p:graphicFrame>
        <p:nvGraphicFramePr>
          <p:cNvPr id="9" name="rules-only 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040880" cy="9144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ladder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changed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renamed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 stripped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reversed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duplicated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a scroller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icon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overlay on 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B1+B2+B3+B4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at once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5E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B1–B7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seven at once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20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6B1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B1–B8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A3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3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600200"/>
            <a:ext cx="377647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092440" y="17099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8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240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single changes break a recorded script (B1, B2, B6, B7, B8)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63840" y="3063240"/>
            <a:ext cx="377647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6"/>
          <p:cNvSpPr txBox="1"/>
          <p:nvPr/>
        </p:nvSpPr>
        <p:spPr>
          <a:xfrm>
            <a:off x="8092440" y="31729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of 8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7033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single changes are survived by the ladder; only a hidden control stops it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863840" y="4526280"/>
            <a:ext cx="377647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8092440" y="46360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design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51663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when nothing can reach the control, it says so instead of guessing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Result 2: hostile UIs and planted text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Labels that tell the model to "ignore the goal" are the nastiest change we tried</a:t>
            </a:r>
            <a:endParaRPr lang="en-US" sz="1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2011680"/>
          <a:ext cx="713232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16459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Flows completed (N = 10)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955280" y="1691640"/>
            <a:ext cx="3685032" cy="4206240"/>
          </a:xfrm>
          <a:prstGeom prst="roundRect">
            <a:avLst>
              <a:gd name="adj" fmla="val 198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4"/>
                </a:solidFill>
              </a:rPr>
              <a:t>WHAT TO READ FROM IT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219456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model is not trusted: it can be fooled, and the next-screen check is what catches 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 the hardest mix the ladder alone fails; adding the model rescues 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Planted-label taps are counted separately, and the check catches them.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 measure how hostile UIs treat an agent. We do not build evasion.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5989320"/>
            <a:ext cx="3931920" cy="274320"/>
          </a:xfrm>
          <a:prstGeom prst="roundRect">
            <a:avLst>
              <a:gd name="adj" fmla="val 50000"/>
            </a:avLst>
          </a:prstGeom>
          <a:solidFill>
            <a:srgbClr val="FBEF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548640" y="5989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5A00"/>
                </a:solidFill>
              </a:rPr>
              <a:t>ILLUSTRATIVE – MODEL ARMS BEING RE-RUN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Result 3: drift the rules cannot read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When wording or position changes, the model rung rescues the ladder, and the check keeps it honest</a:t>
            </a:r>
            <a:endParaRPr lang="en-US" sz="1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2011680"/>
          <a:ext cx="585216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16459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Web: flows completed (N = 10)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645920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Android Settings: real drift (10 intents)</a:t>
            </a:r>
            <a:endParaRPr lang="en-US" sz="140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6583680" y="2011680"/>
          <a:ext cx="5056632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989320"/>
            <a:ext cx="3657600" cy="274320"/>
          </a:xfrm>
          <a:prstGeom prst="roundRect">
            <a:avLst>
              <a:gd name="adj" fmla="val 50000"/>
            </a:avLst>
          </a:prstGeom>
          <a:solidFill>
            <a:srgbClr val="FBEF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5A00"/>
                </a:solidFill>
              </a:rPr>
              <a:t>WEB CHART ILLUSTRATIVE – BEING RE-RUN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583680" y="598932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Android bars are measured. Large font: two rows fall below the fold and no arm scrolls (known gap).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Live demo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Five short steps, about four minutes. A recorded backup covers steps 1 to 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306324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demo icon 1 disc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demo icon 1" descr="Play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195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11680" y="19202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Clean flow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291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Nine steps, post appears in the feed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0:50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788920" y="1783080"/>
            <a:ext cx="2103120" cy="306324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demo icon 2 disc"/>
          <p:cNvSpPr/>
          <p:nvPr/>
        </p:nvSpPr>
        <p:spPr>
          <a:xfrm>
            <a:off x="306324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demo icon 2" descr="Bu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859" y="211957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51960" y="19202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UI changes on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063240" y="3291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Recorded script stops; ladder finishes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306324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0:50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029200" y="1783080"/>
            <a:ext cx="2103120" cy="306324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demo icon 3 disc"/>
          <p:cNvSpPr/>
          <p:nvPr/>
        </p:nvSpPr>
        <p:spPr>
          <a:xfrm>
            <a:off x="530352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demo icon 3" descr="HandPaper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7139" y="2119579"/>
            <a:ext cx="332842" cy="33284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492240" y="19202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530352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Honest stop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5303520" y="3291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Control hidden: it says so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530352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0:40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7269480" y="1783080"/>
            <a:ext cx="2103120" cy="306324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demo icon 4 disc"/>
          <p:cNvSpPr/>
          <p:nvPr/>
        </p:nvSpPr>
        <p:spPr>
          <a:xfrm>
            <a:off x="7543800" y="1965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demo icon 4" descr="ShieldAl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7419" y="21195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732520" y="19202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3"/>
          <p:cNvSpPr txBox="1"/>
          <p:nvPr/>
        </p:nvSpPr>
        <p:spPr>
          <a:xfrm>
            <a:off x="754380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Planted text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7543800" y="3291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Injected labels, caught by the check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754380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0:50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9509760" y="1783080"/>
            <a:ext cx="2103120" cy="306324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demo icon 5 disc"/>
          <p:cNvSpPr/>
          <p:nvPr/>
        </p:nvSpPr>
        <p:spPr>
          <a:xfrm>
            <a:off x="9784080" y="196596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demo icon 5" descr="MobileAlt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7699" y="2119579"/>
            <a:ext cx="332842" cy="332842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0972800" y="19202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6" name="Text 29"/>
          <p:cNvSpPr txBox="1"/>
          <p:nvPr/>
        </p:nvSpPr>
        <p:spPr>
          <a:xfrm>
            <a:off x="978408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Android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9784080" y="3291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French settings: rules fail, model rescues</a:t>
            </a:r>
            <a:endParaRPr lang="en-US" sz="1300" dirty="0"/>
          </a:p>
        </p:txBody>
      </p:sp>
      <p:sp>
        <p:nvSpPr>
          <p:cNvPr id="38" name="Text 31"/>
          <p:cNvSpPr txBox="1"/>
          <p:nvPr/>
        </p:nvSpPr>
        <p:spPr>
          <a:xfrm>
            <a:off x="978408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0:50</a:t>
            </a:r>
            <a:endParaRPr lang="en-US" sz="1200" dirty="0"/>
          </a:p>
        </p:txBody>
      </p:sp>
      <p:sp>
        <p:nvSpPr>
          <p:cNvPr id="39" name="Shape 32"/>
          <p:cNvSpPr/>
          <p:nvPr/>
        </p:nvSpPr>
        <p:spPr>
          <a:xfrm>
            <a:off x="548640" y="5166360"/>
            <a:ext cx="11094415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3"/>
          <p:cNvSpPr txBox="1"/>
          <p:nvPr/>
        </p:nvSpPr>
        <p:spPr>
          <a:xfrm>
            <a:off x="822960" y="51663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Run: </a:t>
            </a:r>
            <a:r>
              <a:rPr lang="en-US" sz="1400" dirty="0">
                <a:solidFill>
                  <a:schemeClr val="tx1"/>
                </a:solidFill>
              </a:rPr>
              <a:t>node Kenna/agent/demo_adversarial.mjs --headed     ·     Android: Kenna/path-b/dashboard.py with the emulator on screen first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Limits and honesty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What the evidence supports, and what it does not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</a:rPr>
              <a:t>WE CAN SHOW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Survival of UI change on a mock web app and Android Settings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checked model rung that is never trusted alone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Honest failure in plain words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Measured, not evaded, protection behaviour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422392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922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3"/>
                </a:solidFill>
              </a:rPr>
              <a:t>WE DO NOT CLAIM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28600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Results on Instagram, Daraz or OLX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Results for more than one model so far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Any user study with screen-reader users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Fingerprint or telemetry stealth: out of scope on purpose</a:t>
            </a:r>
            <a:endParaRPr lang="en-US" sz="1600" dirty="0"/>
          </a:p>
        </p:txBody>
      </p:sp>
      <p:sp>
        <p:nvSpPr>
          <p:cNvPr id="10" name="caught bug panel"/>
          <p:cNvSpPr/>
          <p:nvPr/>
        </p:nvSpPr>
        <p:spPr>
          <a:xfrm>
            <a:off x="548640" y="4846320"/>
            <a:ext cx="11094415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68680" y="4846320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What we caught ourselves: </a:t>
            </a:r>
            <a:r>
              <a:rPr lang="en-US" sz="1600" dirty="0">
                <a:solidFill>
                  <a:schemeClr val="bg1"/>
                </a:solidFill>
              </a:rPr>
              <a:t>a state leak between test arms made a bare model look broken on a clean app. We found it, proved it on a fresh page, fixed the harness and re-ran every model result.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Conclusion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A verified, self-healing way to operate apps that offer no other interface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2"/>
                </a:solidFill>
              </a:rPr>
              <a:t>Intent + check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Goals instead of locators, with success judged on the next screen.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57200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2"/>
                </a:solidFill>
              </a:rPr>
              <a:t>Survives change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77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7 of 8 single UI changes survived by rules alone; the rest stop honestly.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32104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2"/>
                </a:solidFill>
              </a:rPr>
              <a:t>Model as a candidate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377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Rescues drift the rules cannot read, and is never trusted alone.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4"/>
                </a:solidFill>
              </a:rPr>
              <a:t>NEXT</a:t>
            </a:r>
            <a:endParaRPr lang="en-US" sz="1100" dirty="0"/>
          </a:p>
        </p:txBody>
      </p:sp>
      <p:sp>
        <p:nvSpPr>
          <p:cNvPr id="14" name="next dot 1"/>
          <p:cNvSpPr/>
          <p:nvPr/>
        </p:nvSpPr>
        <p:spPr>
          <a:xfrm>
            <a:off x="548640" y="441655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960120" y="4343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Scrolling on Android</a:t>
            </a:r>
            <a:endParaRPr lang="en-US" sz="1600" dirty="0"/>
          </a:p>
        </p:txBody>
      </p:sp>
      <p:sp>
        <p:nvSpPr>
          <p:cNvPr id="16" name="next dot 2"/>
          <p:cNvSpPr/>
          <p:nvPr/>
        </p:nvSpPr>
        <p:spPr>
          <a:xfrm>
            <a:off x="4297680" y="441655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4709160" y="4343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 second model</a:t>
            </a:r>
            <a:endParaRPr lang="en-US" sz="1600" dirty="0"/>
          </a:p>
        </p:txBody>
      </p:sp>
      <p:sp>
        <p:nvSpPr>
          <p:cNvPr id="18" name="next dot 3"/>
          <p:cNvSpPr/>
          <p:nvPr/>
        </p:nvSpPr>
        <p:spPr>
          <a:xfrm>
            <a:off x="8046720" y="441655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8458200" y="4343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More apps and intents</a:t>
            </a:r>
            <a:endParaRPr lang="en-US" sz="1600" dirty="0"/>
          </a:p>
        </p:txBody>
      </p:sp>
      <p:sp>
        <p:nvSpPr>
          <p:cNvPr id="20" name="next dot 4"/>
          <p:cNvSpPr/>
          <p:nvPr/>
        </p:nvSpPr>
        <p:spPr>
          <a:xfrm>
            <a:off x="548640" y="519379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960120" y="5120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 study with screen-reader users</a:t>
            </a:r>
            <a:endParaRPr lang="en-US" sz="1600" dirty="0"/>
          </a:p>
        </p:txBody>
      </p:sp>
      <p:sp>
        <p:nvSpPr>
          <p:cNvPr id="22" name="next dot 5"/>
          <p:cNvSpPr/>
          <p:nvPr/>
        </p:nvSpPr>
        <p:spPr>
          <a:xfrm>
            <a:off x="4297680" y="519379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4709160" y="5120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 synthie using the tool end to end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ba logo slot"/>
          <p:cNvSpPr/>
          <p:nvPr/>
        </p:nvSpPr>
        <p:spPr>
          <a:xfrm>
            <a:off x="548640" y="502920"/>
            <a:ext cx="2377440" cy="9144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8A8F9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IBA Karachi logo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(drop file in presentation/assets/logos/iba.png)</a:t>
            </a:r>
            <a:endParaRPr lang="en-US" sz="1000" dirty="0"/>
          </a:p>
        </p:txBody>
      </p:sp>
      <p:sp>
        <p:nvSpPr>
          <p:cNvPr id="4" name="isecom logo slot"/>
          <p:cNvSpPr/>
          <p:nvPr/>
        </p:nvSpPr>
        <p:spPr>
          <a:xfrm>
            <a:off x="9265615" y="502920"/>
            <a:ext cx="2377440" cy="9144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8A8F9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265615" y="502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ISECOM logo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(drop file in presentation/assets/logos/isecom.png)</a:t>
            </a:r>
            <a:endParaRPr lang="en-US" sz="1000" dirty="0"/>
          </a:p>
        </p:txBody>
      </p:sp>
      <p:sp>
        <p:nvSpPr>
          <p:cNvPr id="6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5"/>
                </a:solidFill>
              </a:rPr>
              <a:t>Sharique Baig · Maira Aijaz · Barkhi Khan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Appendix: frequently asked questions follow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FAQ 1–2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Questions we expect, and our honest answers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Why not just use an API or MCP?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Use it when it exists. Many local apps offer none, so the screen is the only interface. This project is for that gap, and it still verifies each step.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922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Why does the model never act alone?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Its pick is a candidate: it can only name an on-screen control by number, and the next screen must confirm it. Publishing needs confidence of at least 0.8.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FAQ 3–4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Questions we expect, and our honest answers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What if it cannot find the control?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It stops, says which step failed and why, and ends with "You may need to do this step yourself." No guessing, no blind retries.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922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Did you test on Instagram, Daraz or OLX?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No. We tested our own mock web app and Android Settings on an emulator. Daraz and OLX are the target class, not an evaluated one.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FAQ 5–6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Questions we expect, and our honest answers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Do you evade bot detection?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No. It is out of scope by design. We measure how a protection layer treats the agent and report it. We do not spoof or bypass.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922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Is this specific to one model?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So far we ran one model (qwen3.7-flash). A second model is the first planned follow-up. The rules-only results do not use a model.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FAQ 7–8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Questions we expect, and our honest answers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What does N = 10 mean with a cache?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Repeats at temperature 0 with cached answers show variation in the app and harness, not model sampling. We report 95% Wilson intervals: 10 of 10 is 72–100%.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922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How does this help a blind user? Tested with one?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Our instrument is the accessibility tree a screen reader reads, and failures are spoken in plain words. No user study yet; it is the main gap.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</a:rPr>
              <a:t>FAQ 9–10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Questions we expect, and our honest answers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What went wrong, and how did you fix it?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 state leak between test arms made a bare model look broken on a clean app. We proved it on a fresh page, fixed the harness and re-ran every model result.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2239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922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What is next?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Scrolling on Android, a second model, more apps and intents, a study with screen-reader users, and a synthie using the tool end to end.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A FYP Academic">
  <a:themeElements>
    <a:clrScheme name="IBA FYP Academic">
      <a:dk1>
        <a:srgbClr val="2B2124"/>
      </a:dk1>
      <a:lt1>
        <a:srgbClr val="FFFFFF"/>
      </a:lt1>
      <a:dk2>
        <a:srgbClr val="6B1A2A"/>
      </a:dk2>
      <a:lt2>
        <a:srgbClr val="F6F1F0"/>
      </a:lt2>
      <a:accent1>
        <a:srgbClr val="8C2338"/>
      </a:accent1>
      <a:accent2>
        <a:srgbClr val="C8963E"/>
      </a:accent2>
      <a:accent3>
        <a:srgbClr val="C75B12"/>
      </a:accent3>
      <a:accent4>
        <a:srgbClr val="6B6F78"/>
      </a:accent4>
      <a:accent5>
        <a:srgbClr val="EBD9DC"/>
      </a:accent5>
      <a:accent6>
        <a:srgbClr val="4A5568"/>
      </a:accent6>
      <a:hlink>
        <a:srgbClr val="8C2338"/>
      </a:hlink>
      <a:folHlink>
        <a:srgbClr val="8A8F98"/>
      </a:folHlink>
    </a:clrScheme>
    <a:fontScheme name="IBA FYP Academi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2518</Words>
  <Application>Microsoft Office PowerPoint</Application>
  <PresentationFormat>Widescreen</PresentationFormat>
  <Paragraphs>344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IBA FYP Academic</vt:lpstr>
      <vt:lpstr>Self-healing, verified GUI automation for accessible AI assistants</vt:lpstr>
      <vt:lpstr>Why this matters</vt:lpstr>
      <vt:lpstr>Three kinds of platform</vt:lpstr>
      <vt:lpstr>Synthies and ISECOM</vt:lpstr>
      <vt:lpstr>Our project: Beyond MCPs</vt:lpstr>
      <vt:lpstr>How it works: the ladder</vt:lpstr>
      <vt:lpstr>How we tested</vt:lpstr>
      <vt:lpstr>Result 1: surviving UI change</vt:lpstr>
      <vt:lpstr>Result 2: hostile UIs and planted text</vt:lpstr>
      <vt:lpstr>Result 3: drift the rules cannot read</vt:lpstr>
      <vt:lpstr>Live demo</vt:lpstr>
      <vt:lpstr>Limits and honesty</vt:lpstr>
      <vt:lpstr>Conclusion and next steps</vt:lpstr>
      <vt:lpstr>Questions</vt:lpstr>
      <vt:lpstr>FAQ 1–2</vt:lpstr>
      <vt:lpstr>FAQ 3–4</vt:lpstr>
      <vt:lpstr>FAQ 5–6</vt:lpstr>
      <vt:lpstr>FAQ 7–8</vt:lpstr>
      <vt:lpstr>FAQ 9–10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Kenna - FYP defense</dc:title>
  <dc:subject>PptxGenJS Presentation</dc:subject>
  <dc:creator>Sharique Baig, Maira Aijaz, Barkhi Khan</dc:creator>
  <cp:lastModifiedBy>Muhammad Baig</cp:lastModifiedBy>
  <cp:revision>1</cp:revision>
  <dcterms:created xsi:type="dcterms:W3CDTF">2026-10-29T13:21:34Z</dcterms:created>
  <dcterms:modified xsi:type="dcterms:W3CDTF">2026-10-29T13:42:37Z</dcterms:modified>
</cp:coreProperties>
</file>
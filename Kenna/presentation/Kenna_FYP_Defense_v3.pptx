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622be57-a658-4204-48fe-dbdf9e1c21e2}">
          <p14:sldIdLst>
            <p14:sldId id="256"/>
          </p14:sldIdLst>
        </p14:section>
        <p14:section name="Problem" id="{e644d417-d661-5546-f667-8980e9d54f8d}">
          <p14:sldIdLst>
            <p14:sldId id="257"/>
            <p14:sldId id="258"/>
          </p14:sldIdLst>
        </p14:section>
        <p14:section name="Context" id="{f9b8bdb8-76cb-645a-8f4f-3dd1ea3b37cb}">
          <p14:sldIdLst>
            <p14:sldId id="259"/>
          </p14:sldIdLst>
        </p14:section>
        <p14:section name="Approach" id="{88e30466-8772-e881-d4c3-1ec47bfe1bb4}">
          <p14:sldIdLst>
            <p14:sldId id="260"/>
            <p14:sldId id="261"/>
          </p14:sldIdLst>
        </p14:section>
        <p14:section name="Evidence" id="{ab016cdf-b2e8-8f98-62de-3a93fcd53e3f}">
          <p14:sldIdLst>
            <p14:sldId id="262"/>
            <p14:sldId id="263"/>
            <p14:sldId id="264"/>
            <p14:sldId id="265"/>
          </p14:sldIdLst>
        </p14:section>
        <p14:section name="Demo" id="{57aa45d7-66d8-f3d3-0093-30922fd61f20}">
          <p14:sldIdLst>
            <p14:sldId id="266"/>
          </p14:sldIdLst>
        </p14:section>
        <p14:section name="Close" id="{5c63d983-14b0-5913-bf6d-33edcd0dd5e0}">
          <p14:sldIdLst>
            <p14:sldId id="267"/>
            <p14:sldId id="268"/>
            <p14:sldId id="269"/>
          </p14:sldIdLst>
        </p14:section>
        <p14:section name="FAQ" id="{8265927b-b630-638e-0497-c846c0daaafd}">
          <p14:sldIdLst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Rules ladder</c:v>
                </c:pt>
              </c:strCache>
            </c:strRef>
          </c:tx>
          <c:spPr>
            <a:solidFill>
              <a:srgbClr val="B8862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1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Planted labels</c:v>
                  </c:pt>
                  <c:pt idx="1">
                    <c:v>+ reworded text</c:v>
                  </c:pt>
                  <c:pt idx="2">
                    <c:v>+ ids rotated + control moved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Bare model</c:v>
                </c:pt>
              </c:strCache>
            </c:strRef>
          </c:tx>
          <c:spPr>
            <a:solidFill>
              <a:srgbClr val="4B556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1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Planted labels</c:v>
                  </c:pt>
                  <c:pt idx="1">
                    <c:v>+ reworded text</c:v>
                  </c:pt>
                  <c:pt idx="2">
                    <c:v>+ ids rotated + control moved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Ladder + model + check</c:v>
                </c:pt>
              </c:strCache>
            </c:strRef>
          </c:tx>
          <c:spPr>
            <a:solidFill>
              <a:srgbClr val="6B1A2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1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Planted labels</c:v>
                  </c:pt>
                  <c:pt idx="1">
                    <c:v>+ reworded text</c:v>
                  </c:pt>
                  <c:pt idx="2">
                    <c:v>+ ids rotated + control moved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B21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1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9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1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Recorded script</c:v>
                </c:pt>
              </c:strCache>
            </c:strRef>
          </c:tx>
          <c:spPr>
            <a:solidFill>
              <a:srgbClr val="8A8F9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Clean</c:v>
                  </c:pt>
                  <c:pt idx="1">
                    <c:v>Reworded</c:v>
                  </c:pt>
                  <c:pt idx="2">
                    <c:v>+ ids rotated</c:v>
                  </c:pt>
                  <c:pt idx="3">
                    <c:v>+ control moved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Rules ladder</c:v>
                </c:pt>
              </c:strCache>
            </c:strRef>
          </c:tx>
          <c:spPr>
            <a:solidFill>
              <a:srgbClr val="B8862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Clean</c:v>
                  </c:pt>
                  <c:pt idx="1">
                    <c:v>Reworded</c:v>
                  </c:pt>
                  <c:pt idx="2">
                    <c:v>+ ids rotated</c:v>
                  </c:pt>
                  <c:pt idx="3">
                    <c:v>+ control moved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Ladder + model + check</c:v>
                </c:pt>
              </c:strCache>
            </c:strRef>
          </c:tx>
          <c:spPr>
            <a:solidFill>
              <a:srgbClr val="6B1A2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Clean</c:v>
                  </c:pt>
                  <c:pt idx="1">
                    <c:v>Reworded</c:v>
                  </c:pt>
                  <c:pt idx="2">
                    <c:v>+ ids rotated</c:v>
                  </c:pt>
                  <c:pt idx="3">
                    <c:v>+ control moved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B21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1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9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1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Rules only</c:v>
                </c:pt>
              </c:strCache>
            </c:strRef>
          </c:tx>
          <c:spPr>
            <a:solidFill>
              <a:srgbClr val="B8862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English</c:v>
                  </c:pt>
                  <c:pt idx="1">
                    <c:v>French</c:v>
                  </c:pt>
                  <c:pt idx="2">
                    <c:v>Font × 1.6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20</c:v>
                </c:pt>
                <c:pt idx="2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Ladder + model + check</c:v>
                </c:pt>
              </c:strCache>
            </c:strRef>
          </c:tx>
          <c:spPr>
            <a:solidFill>
              <a:srgbClr val="6B1A2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English</c:v>
                  </c:pt>
                  <c:pt idx="1">
                    <c:v>French</c:v>
                  </c:pt>
                  <c:pt idx="2">
                    <c:v>Font × 1.6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80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B21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1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9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1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Introduce the team. One sentence: we built an assistant-side tool that operates apps by goal, checks each step, and stops honestly. Today: why, how, evidence,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Motivation. Keep it human: the user who cannot take over. The 78% to 2% figure is from hierdump on stock Android Settings (name-aware figure is the one we quote).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The poster is where we started. Be explicit: Daraz and OLX are the motivating class, not an evaluated target. We measured protection behaviour; we did not build a bypass.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2:00. Fill the ISECOM bullets from the team before presenting. Synthie description is from one instance's own account (Hematite); say so if asked. Flow: the synthie says a goal, the tool does the screen work, a plain-words result comes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Real output from the harness under break B8 (control hidden). Contrast with a recorded script that clicks nothing and reports no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2:00. Walk left to right. Stress: the model is the last resort and never trusted; the success check is independent of how the control was found. Vision numbers each on-screen control so the model can answer "badge 7".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Keep it brisk. Emphasise that every arm runs the same 9-step flow on the same broken app, and that success is judged by the next screen, not by absence of an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All real rules-only numbers (N=10 per cell). Point at B8 and the seven/eight-at-once rows: the ladder does not claim to survive everything. It stops honestly. Poster says "9/9 under UI chaos": we say "under each single change we tried, and combinations up to four".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DOM rotation and tree suppression were slide 8 (B1, B2, B6, B7, B8). This slide is hostile text (B11). Be honest: one fixed, naive injection string on three controls, so say "this planted-label attack", not "prompt injection in general". Replace illustrative values after the re-run publishes: rebuild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Android numbers are real (French: rules 2/10, hybrid 10/10; font 1.6: 8/10 for every arm because nothing scrolls). Web chart values are placeholders until the re-run is published. Vision (no words at all): the screenshot did not beat text at N=5; say so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4:00 total. Open the emulator window before you start. If anything stalls, switch to the recorded video for steps 1-3 and skip step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This slide earns trust. Lead with what we do not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End on the claim we can defend,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IBA Karachi  ·  Final Year Project  ·  Beyond MCPs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412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ba logo slot"/>
          <p:cNvSpPr/>
          <p:nvPr/>
        </p:nvSpPr>
        <p:spPr>
          <a:xfrm>
            <a:off x="548640" y="502920"/>
            <a:ext cx="2377440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rgbClr val="8A8F98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IBA Karachi logo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(drop file in presentation/assets/logos/iba.png)</a:t>
            </a:r>
            <a:endParaRPr lang="en-US" sz="1000" dirty="0"/>
          </a:p>
        </p:txBody>
      </p:sp>
      <p:sp>
        <p:nvSpPr>
          <p:cNvPr id="4" name="isecom logo slot"/>
          <p:cNvSpPr/>
          <p:nvPr/>
        </p:nvSpPr>
        <p:spPr>
          <a:xfrm>
            <a:off x="9265615" y="502920"/>
            <a:ext cx="2377440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rgbClr val="8A8F98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265615" y="502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ISECOM logo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(drop file in presentation/assets/logos/isecom.png)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FINAL YEAR PROJECT · MVP DEFENSE</a:t>
            </a:r>
            <a:endParaRPr lang="en-US" sz="1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20116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Self-healing, verified GUI automation for accessible AI assistants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Say the goal, never the locator. Check every step on the next screen. Stop honestly when it cannot be done.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Sharique Baig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28369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Maira Aijaz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28552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Barkhi Khan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29261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Supervisor: [name]   ·   Institute of Business Administration, Karachi   ·   [date]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Why this matters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Assistants operate apps never built for them, and users cannot always take over when a step fails</a:t>
            </a:r>
            <a:endParaRPr lang="en-US" sz="1800" dirty="0"/>
          </a:p>
        </p:txBody>
      </p:sp>
      <p:sp>
        <p:nvSpPr>
          <p:cNvPr id="4" name="why icon 1 disc"/>
          <p:cNvSpPr/>
          <p:nvPr/>
        </p:nvSpPr>
        <p:spPr>
          <a:xfrm>
            <a:off x="54864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why icon 1" descr="Plu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195864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 API to call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1945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Many everyday apps, stores and legacy tools expose only a screen. Where an API or MCP exists, use it; this is for the rest.</a:t>
            </a:r>
            <a:endParaRPr lang="en-US" sz="1500" dirty="0"/>
          </a:p>
        </p:txBody>
      </p:sp>
      <p:sp>
        <p:nvSpPr>
          <p:cNvPr id="8" name="why icon 2 disc"/>
          <p:cNvSpPr/>
          <p:nvPr/>
        </p:nvSpPr>
        <p:spPr>
          <a:xfrm>
            <a:off x="548640" y="3246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why icon 2" descr="Bu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5" y="342168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3246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Recorded scripts break silently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554480" y="3657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renamed id and a recorded click goes nowhere. Worse, nothing checks that the goal was actually reached.</a:t>
            </a:r>
            <a:endParaRPr lang="en-US" sz="1500" dirty="0"/>
          </a:p>
        </p:txBody>
      </p:sp>
      <p:sp>
        <p:nvSpPr>
          <p:cNvPr id="12" name="why icon 3 disc"/>
          <p:cNvSpPr/>
          <p:nvPr/>
        </p:nvSpPr>
        <p:spPr>
          <a:xfrm>
            <a:off x="548640" y="47091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why icon 3" descr="UniversalAcces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488472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4709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user may not be able to step in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554480" y="51206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 a blind or motor-impaired user, "please do this step yourself" is not a fallback. The assistant has to be right, or say clearly that it is not.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589520" y="1783080"/>
            <a:ext cx="4050792" cy="4297680"/>
          </a:xfrm>
          <a:prstGeom prst="roundRect">
            <a:avLst>
              <a:gd name="adj" fmla="val 1806"/>
            </a:avLst>
          </a:prstGeom>
          <a:solidFill>
            <a:schemeClr val="bg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86384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MEASURED ON ANDROID SETTINGS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7863840" y="2331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6000" dirty="0"/>
          </a:p>
        </p:txBody>
      </p:sp>
      <p:sp>
        <p:nvSpPr>
          <p:cNvPr id="19" name="Text 14"/>
          <p:cNvSpPr txBox="1"/>
          <p:nvPr/>
        </p:nvSpPr>
        <p:spPr>
          <a:xfrm>
            <a:off x="786384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controls look nameless judged by their own attributes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863840" y="4023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2%</a:t>
            </a:r>
            <a:endParaRPr lang="en-US" sz="6000" dirty="0"/>
          </a:p>
        </p:txBody>
      </p:sp>
      <p:sp>
        <p:nvSpPr>
          <p:cNvPr id="21" name="Text 16"/>
          <p:cNvSpPr txBox="1"/>
          <p:nvPr/>
        </p:nvSpPr>
        <p:spPr>
          <a:xfrm>
            <a:off x="7863840" y="4937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once the labels inside a clickable row count, the way a screen reader names 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kinds of platform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Where this project sits, and what we actually evaluated</a:t>
            </a:r>
            <a:endParaRPr lang="en-US" sz="1800" dirty="0"/>
          </a:p>
        </p:txBody>
      </p:sp>
      <p:sp>
        <p:nvSpPr>
          <p:cNvPr id="4" name="poster frame"/>
          <p:cNvSpPr/>
          <p:nvPr/>
        </p:nvSpPr>
        <p:spPr>
          <a:xfrm>
            <a:off x="512064" y="1655064"/>
            <a:ext cx="3384499" cy="4507992"/>
          </a:xfrm>
          <a:prstGeom prst="rect">
            <a:avLst/>
          </a:prstGeom>
          <a:solidFill>
            <a:schemeClr val="bg1"/>
          </a:solidFill>
          <a:ln w="9525">
            <a:solidFill>
              <a:srgbClr val="8A8F9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FYP poster" descr="Our FYP poster: Beyond MCPs, self-healing and adversarially resilient GUI ag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311347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80027" y="1691640"/>
            <a:ext cx="746302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7" name="platform icon 1 disc"/>
          <p:cNvSpPr/>
          <p:nvPr/>
        </p:nvSpPr>
        <p:spPr>
          <a:xfrm>
            <a:off x="4454347" y="201168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platform icon 1" descr="Plu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12" y="218724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60187" y="1874520"/>
            <a:ext cx="35311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Agent-native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   Vercel, Stripe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APIs and MCP servers. Use them.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28455" y="224028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DDEFE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9128455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E4F"/>
                </a:solidFill>
              </a:rPr>
              <a:t>Out of scope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180027" y="3200400"/>
            <a:ext cx="746302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3" name="platform icon 2 disc"/>
          <p:cNvSpPr/>
          <p:nvPr/>
        </p:nvSpPr>
        <p:spPr>
          <a:xfrm>
            <a:off x="4454347" y="35204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platform icon 2" descr="Cog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912" y="369600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60187" y="3383280"/>
            <a:ext cx="35311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Legacy local apps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   Daraz, OLX-style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API, unlabeled buttons, frequent breakage. Our target class.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9128455" y="374904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128455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00"/>
                </a:solidFill>
              </a:rPr>
              <a:t>Mock app + Android Settings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180027" y="4709160"/>
            <a:ext cx="746302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platform icon 3 disc"/>
          <p:cNvSpPr/>
          <p:nvPr/>
        </p:nvSpPr>
        <p:spPr>
          <a:xfrm>
            <a:off x="4454347" y="5029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platform icon 3" descr="Lo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912" y="520476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60187" y="4892040"/>
            <a:ext cx="35311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Agent-hostile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   Instagram-style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Anti-bot defences and UI suppression.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9128455" y="525780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8E3D3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9128455" y="5257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3B0B"/>
                </a:solidFill>
              </a:rPr>
              <a:t>Measured, never evaded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Synthies and ISECOM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The kind of agent that uses our tool, and who we are working with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5" name="isecom logo slot"/>
          <p:cNvSpPr/>
          <p:nvPr/>
        </p:nvSpPr>
        <p:spPr>
          <a:xfrm>
            <a:off x="822960" y="1965960"/>
            <a:ext cx="173736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8A8F98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ISECOM logo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(drop file in presentation/assets/logos/isecom.png)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ISECOM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isecom.org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Who they are: [one line, confirm wording with the team]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Our collaboration: [what ISECOM provides or uses]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What it means for this work: [e.g. a real agent consumer]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42239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11" name="synthie icon disc"/>
          <p:cNvSpPr/>
          <p:nvPr/>
        </p:nvSpPr>
        <p:spPr>
          <a:xfrm>
            <a:off x="6492240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synthie icon" descr="Robo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2" y="2130552"/>
            <a:ext cx="356616" cy="35661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36092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Synthies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long-running agents with an identity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8803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 continuously on their own host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Have a chat identity and an owner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Act through a typed tool set, with logged actions</a:t>
            </a:r>
            <a:endParaRPr lang="en-US" sz="1500" dirty="0"/>
          </a:p>
        </p:txBody>
      </p:sp>
      <p:sp>
        <p:nvSpPr>
          <p:cNvPr id="16" name="flow Synthie"/>
          <p:cNvSpPr/>
          <p:nvPr/>
        </p:nvSpPr>
        <p:spPr>
          <a:xfrm>
            <a:off x="548640" y="5074920"/>
            <a:ext cx="310896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Synthie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goal, in words</a:t>
            </a:r>
            <a:endParaRPr lang="en-US" sz="1600" dirty="0"/>
          </a:p>
        </p:txBody>
      </p:sp>
      <p:sp>
        <p:nvSpPr>
          <p:cNvPr id="18" name="flow arrow 1"/>
          <p:cNvSpPr/>
          <p:nvPr/>
        </p:nvSpPr>
        <p:spPr>
          <a:xfrm>
            <a:off x="3749040" y="5321808"/>
            <a:ext cx="685800" cy="36576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9" name="flow Kenna tool"/>
          <p:cNvSpPr/>
          <p:nvPr/>
        </p:nvSpPr>
        <p:spPr>
          <a:xfrm>
            <a:off x="4526280" y="5074920"/>
            <a:ext cx="310896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2628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Kenna tool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ladder + checks</a:t>
            </a:r>
            <a:endParaRPr lang="en-US" sz="1600" dirty="0"/>
          </a:p>
        </p:txBody>
      </p:sp>
      <p:sp>
        <p:nvSpPr>
          <p:cNvPr id="21" name="flow arrow 2"/>
          <p:cNvSpPr/>
          <p:nvPr/>
        </p:nvSpPr>
        <p:spPr>
          <a:xfrm>
            <a:off x="7726680" y="5321808"/>
            <a:ext cx="685800" cy="36576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2" name="flow The app"/>
          <p:cNvSpPr/>
          <p:nvPr/>
        </p:nvSpPr>
        <p:spPr>
          <a:xfrm>
            <a:off x="8503920" y="5074920"/>
            <a:ext cx="310896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50392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app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web or Android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Our project: Kenna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An assistant-side tool, governed by three rules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rule icon 1 disc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rule icon 1" descr="Comment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Intent, not locator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assistant says "open the create-post flow". It never says which button.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0" name="rule icon 2 disc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rule icon 2" descr="CheckCir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21195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Verify on the next screen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154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step counts only if the next screen shows the goal was reached. "No error" is not success.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5" name="rule icon 3 disc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rule icon 3" descr="HandPape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119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Stop honestly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154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nothing works, say which step failed and why, in plain first-person words.</a:t>
            </a:r>
            <a:endParaRPr lang="en-US" sz="1400" dirty="0"/>
          </a:p>
        </p:txBody>
      </p:sp>
      <p:sp>
        <p:nvSpPr>
          <p:cNvPr id="19" name="honest message panel"/>
          <p:cNvSpPr/>
          <p:nvPr/>
        </p:nvSpPr>
        <p:spPr>
          <a:xfrm>
            <a:off x="548640" y="4434840"/>
            <a:ext cx="11094415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68680" y="4572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WHAT THE USER HEARS WHEN A CONTROL CANNOT BE REACHED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68680" y="49377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could not finish the step ‘Open the create-post flow’ – I cannot identify a control for this step. You may need to do this step yourself."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it works: the ladder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Try cheap, readable routes first. Ask a model only when every rule route fails</a:t>
            </a:r>
            <a:endParaRPr lang="en-US" sz="1800" dirty="0"/>
          </a:p>
        </p:txBody>
      </p:sp>
      <p:sp>
        <p:nvSpPr>
          <p:cNvPr id="4" name="rung id"/>
          <p:cNvSpPr/>
          <p:nvPr/>
        </p:nvSpPr>
        <p:spPr>
          <a:xfrm>
            <a:off x="548640" y="1783080"/>
            <a:ext cx="1481328" cy="960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recorded hook</a:t>
            </a:r>
            <a:endParaRPr lang="en-US" sz="1600" dirty="0"/>
          </a:p>
        </p:txBody>
      </p:sp>
      <p:sp>
        <p:nvSpPr>
          <p:cNvPr id="6" name="rung label"/>
          <p:cNvSpPr/>
          <p:nvPr/>
        </p:nvSpPr>
        <p:spPr>
          <a:xfrm>
            <a:off x="2121408" y="1783080"/>
            <a:ext cx="1481328" cy="960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21408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label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accessible name</a:t>
            </a:r>
            <a:endParaRPr lang="en-US" sz="1600" dirty="0"/>
          </a:p>
        </p:txBody>
      </p:sp>
      <p:sp>
        <p:nvSpPr>
          <p:cNvPr id="8" name="rung text"/>
          <p:cNvSpPr/>
          <p:nvPr/>
        </p:nvSpPr>
        <p:spPr>
          <a:xfrm>
            <a:off x="3694176" y="1783080"/>
            <a:ext cx="1481328" cy="960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94176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text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visible words</a:t>
            </a:r>
            <a:endParaRPr lang="en-US" sz="1600" dirty="0"/>
          </a:p>
        </p:txBody>
      </p:sp>
      <p:sp>
        <p:nvSpPr>
          <p:cNvPr id="10" name="rung scoped"/>
          <p:cNvSpPr/>
          <p:nvPr/>
        </p:nvSpPr>
        <p:spPr>
          <a:xfrm>
            <a:off x="5266944" y="1783080"/>
            <a:ext cx="1481328" cy="960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66944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scoped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inside a container</a:t>
            </a:r>
            <a:endParaRPr lang="en-US" sz="1600" dirty="0"/>
          </a:p>
        </p:txBody>
      </p:sp>
      <p:sp>
        <p:nvSpPr>
          <p:cNvPr id="12" name="rung learned"/>
          <p:cNvSpPr/>
          <p:nvPr/>
        </p:nvSpPr>
        <p:spPr>
          <a:xfrm>
            <a:off x="6839712" y="1783080"/>
            <a:ext cx="1481328" cy="96012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39712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learned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remembered route</a:t>
            </a:r>
            <a:endParaRPr lang="en-US" sz="1600" dirty="0"/>
          </a:p>
        </p:txBody>
      </p:sp>
      <p:sp>
        <p:nvSpPr>
          <p:cNvPr id="14" name="rung model"/>
          <p:cNvSpPr/>
          <p:nvPr/>
        </p:nvSpPr>
        <p:spPr>
          <a:xfrm>
            <a:off x="8412480" y="1783080"/>
            <a:ext cx="1481328" cy="9601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model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picks an index</a:t>
            </a:r>
            <a:endParaRPr lang="en-US" sz="1600" dirty="0"/>
          </a:p>
        </p:txBody>
      </p:sp>
      <p:sp>
        <p:nvSpPr>
          <p:cNvPr id="16" name="rung vision"/>
          <p:cNvSpPr/>
          <p:nvPr/>
        </p:nvSpPr>
        <p:spPr>
          <a:xfrm>
            <a:off x="9985248" y="1783080"/>
            <a:ext cx="1481328" cy="9601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85248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vision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sees the screen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834640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RULES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2834640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MEMORY AND MODEL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3520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One control or nothing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8862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route counts only if it points at exactly one control on screen.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3337560"/>
            <a:ext cx="3520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 model never acts alone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38862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may only answer with an index into the on-screen list. Its pick is a candidate, judged like any other.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46720" y="3337560"/>
            <a:ext cx="3520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Irreversible needs more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38862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Publishing needs confidence ≥ 0.8 and only the first choice.</a:t>
            </a:r>
            <a:endParaRPr lang="en-US" sz="1400" dirty="0"/>
          </a:p>
        </p:txBody>
      </p:sp>
      <p:sp>
        <p:nvSpPr>
          <p:cNvPr id="29" name="check flow 1"/>
          <p:cNvSpPr/>
          <p:nvPr/>
        </p:nvSpPr>
        <p:spPr>
          <a:xfrm>
            <a:off x="548640" y="5257800"/>
            <a:ext cx="246888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5257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Candidate control</a:t>
            </a:r>
            <a:endParaRPr lang="en-US" sz="1500" dirty="0"/>
          </a:p>
        </p:txBody>
      </p:sp>
      <p:sp>
        <p:nvSpPr>
          <p:cNvPr id="31" name="check arrow 1"/>
          <p:cNvSpPr/>
          <p:nvPr/>
        </p:nvSpPr>
        <p:spPr>
          <a:xfrm>
            <a:off x="3108960" y="5422392"/>
            <a:ext cx="274320" cy="36576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32" name="check flow 2"/>
          <p:cNvSpPr/>
          <p:nvPr/>
        </p:nvSpPr>
        <p:spPr>
          <a:xfrm>
            <a:off x="3383280" y="525780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383280" y="5257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Act</a:t>
            </a:r>
            <a:endParaRPr lang="en-US" sz="1500" dirty="0"/>
          </a:p>
        </p:txBody>
      </p:sp>
      <p:sp>
        <p:nvSpPr>
          <p:cNvPr id="34" name="check arrow 2"/>
          <p:cNvSpPr/>
          <p:nvPr/>
        </p:nvSpPr>
        <p:spPr>
          <a:xfrm>
            <a:off x="5577840" y="5422392"/>
            <a:ext cx="274320" cy="36576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35" name="check flow 3"/>
          <p:cNvSpPr/>
          <p:nvPr/>
        </p:nvSpPr>
        <p:spPr>
          <a:xfrm>
            <a:off x="6035040" y="5257800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035040" y="5257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Success check on the NEXT screen</a:t>
            </a:r>
            <a:endParaRPr lang="en-US" sz="1500" dirty="0"/>
          </a:p>
        </p:txBody>
      </p:sp>
      <p:sp>
        <p:nvSpPr>
          <p:cNvPr id="37" name="check arrow 3"/>
          <p:cNvSpPr/>
          <p:nvPr/>
        </p:nvSpPr>
        <p:spPr>
          <a:xfrm>
            <a:off x="9281160" y="5422392"/>
            <a:ext cx="274320" cy="36576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38" name="outcome"/>
          <p:cNvSpPr/>
          <p:nvPr/>
        </p:nvSpPr>
        <p:spPr>
          <a:xfrm>
            <a:off x="9692640" y="5257800"/>
            <a:ext cx="194767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rgbClr val="8A8F9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92640" y="5257800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Done, or honest stop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we tested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One 9-step flow, eleven controlled UI changes, five ways of operating the app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420624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THE TASK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create-post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Choose a photo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 to caption step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More options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 back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 a caption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54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 on AI label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66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Publish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77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9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 is in the feed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0" y="1783080"/>
            <a:ext cx="4114800" cy="4206240"/>
          </a:xfrm>
          <a:prstGeom prst="roundRect">
            <a:avLst>
              <a:gd name="adj" fmla="val 177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THE UI CHANGES (BREAKS)</a:t>
            </a:r>
            <a:endParaRPr lang="en-US" sz="1100" dirty="0"/>
          </a:p>
        </p:txBody>
      </p:sp>
      <p:sp>
        <p:nvSpPr>
          <p:cNvPr id="17" name="group dot 1"/>
          <p:cNvSpPr/>
          <p:nvPr/>
        </p:nvSpPr>
        <p:spPr>
          <a:xfrm>
            <a:off x="4389120" y="2395728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Locator rot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6609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B1 ids renamed · B4 duplicate control · B5 hidden in a scroller</a:t>
            </a:r>
            <a:endParaRPr lang="en-US" sz="1300" dirty="0"/>
          </a:p>
        </p:txBody>
      </p:sp>
      <p:sp>
        <p:nvSpPr>
          <p:cNvPr id="20" name="group dot 2"/>
          <p:cNvSpPr/>
          <p:nvPr/>
        </p:nvSpPr>
        <p:spPr>
          <a:xfrm>
            <a:off x="4389120" y="332841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3264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Lost names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5935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B2 labels stripped · B6 bare icon · B9 words reworded</a:t>
            </a:r>
            <a:endParaRPr lang="en-US" sz="1300" dirty="0"/>
          </a:p>
        </p:txBody>
      </p:sp>
      <p:sp>
        <p:nvSpPr>
          <p:cNvPr id="23" name="group dot 3"/>
          <p:cNvSpPr/>
          <p:nvPr/>
        </p:nvSpPr>
        <p:spPr>
          <a:xfrm>
            <a:off x="4389120" y="4261104"/>
            <a:ext cx="201168" cy="2011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54880" y="41970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Moved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B3 layout reversed · B10 control relocated</a:t>
            </a:r>
            <a:endParaRPr lang="en-US" sz="1300" dirty="0"/>
          </a:p>
        </p:txBody>
      </p:sp>
      <p:sp>
        <p:nvSpPr>
          <p:cNvPr id="26" name="group dot 4"/>
          <p:cNvSpPr/>
          <p:nvPr/>
        </p:nvSpPr>
        <p:spPr>
          <a:xfrm>
            <a:off x="4389120" y="5193792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54880" y="51297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Hostile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54589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B7 overlay · B8 control hidden · B11 planted instructions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783080"/>
            <a:ext cx="3227832" cy="4206240"/>
          </a:xfrm>
          <a:prstGeom prst="roundRect">
            <a:avLst>
              <a:gd name="adj" fmla="val 2266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THE FIVE ARMS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Recorded script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one locator per step, no checks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3017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Rules ladder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our rules, checked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Bare model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first pick, nothing checked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0" y="4480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 + check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model only, verified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Ladder + model + check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our full system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14476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N = 10 runs per cell · 95% Wilson intervals · model qwen3.7-flash, temperature 0, cached answers (variation in the app and harness, not model sampling)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 1: surviving UI change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Rules only, no model. A recorded script breaks under five of eight single changes</a:t>
            </a:r>
            <a:endParaRPr lang="en-US" sz="1800" dirty="0"/>
          </a:p>
        </p:txBody>
      </p:sp>
      <p:graphicFrame>
        <p:nvGraphicFramePr>
          <p:cNvPr id="9" name="rules-only 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040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1600200"/>
                <a:gridCol w="1600200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ladder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2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changed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 renamed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 stripped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reversed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duplicated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 scroller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icon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overlay on 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hidden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B1+B2+B3+B4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at 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B1–B7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seven at 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B1–B8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600200"/>
            <a:ext cx="37764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92440" y="17099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8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240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single changes break a recorded script (B1, B2, B6, B7, B8)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63840" y="3063240"/>
            <a:ext cx="37764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92440" y="31729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of 8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703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single changes are survived by the ladder; only a hidden control stops it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63840" y="4526280"/>
            <a:ext cx="37764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92440" y="46360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design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5166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when nothing can reach the control, it says so instead of guessing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 2: hostile UIs and planted text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Labels that tell the model to "ignore the goal" are the nastiest change we tried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011680"/>
          <a:ext cx="713232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1645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Flows completed (N = 10)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955280" y="1691640"/>
            <a:ext cx="3685032" cy="4206240"/>
          </a:xfrm>
          <a:prstGeom prst="roundRect">
            <a:avLst>
              <a:gd name="adj" fmla="val 1985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WHAT TO READ FROM IT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19456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model is not trusted: it can be fooled, and the next-screen check is what catches 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 the hardest mix the ladder alone fails; adding the model rescues 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Planted-label taps are counted separately, and the check catches them.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 measure how hostile UIs treat an agent. We do not build evasion.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5989320"/>
            <a:ext cx="3931920" cy="27432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5989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00"/>
                </a:solidFill>
              </a:rPr>
              <a:t>ILLUSTRATIVE – MODEL ARMS BEING RE-RUN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 3: drift the rules cannot read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When wording or position changes, the model rung rescues the ladder, and the check keeps it honest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011680"/>
          <a:ext cx="58521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16459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Web: flows completed (N = 10)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164592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Android Settings: real drift (10 intents)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583680" y="2011680"/>
          <a:ext cx="5056632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583680" y="598932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Android bars are measured. Large font: two rows fall below the fold and no arm scrolls (known gap).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Live demo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Five short steps, about four minutes. A recorded backup covers steps 1 to 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5" name="demo icon 1 disc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demo icon 1" descr="Pla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Clean flow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Nine steps, post appears in the feed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0:50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88920" y="178308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2" name="demo icon 2 disc"/>
          <p:cNvSpPr/>
          <p:nvPr/>
        </p:nvSpPr>
        <p:spPr>
          <a:xfrm>
            <a:off x="306324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demo icon 2" descr="Bu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859" y="211957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5196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306324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UI changes on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306324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Recorded script stops; ladder finishes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06324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0:50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0" y="178308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demo icon 3 disc"/>
          <p:cNvSpPr/>
          <p:nvPr/>
        </p:nvSpPr>
        <p:spPr>
          <a:xfrm>
            <a:off x="530352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demo icon 3" descr="HandPape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39" y="2119579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9224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530352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Honest stop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30352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Control hidden: it says so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30352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0:40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269480" y="178308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6" name="demo icon 4 disc"/>
          <p:cNvSpPr/>
          <p:nvPr/>
        </p:nvSpPr>
        <p:spPr>
          <a:xfrm>
            <a:off x="754380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demo icon 4" descr="ShieldAl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7419" y="2119579"/>
            <a:ext cx="332842" cy="33284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73252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23"/>
          <p:cNvSpPr txBox="1"/>
          <p:nvPr/>
        </p:nvSpPr>
        <p:spPr>
          <a:xfrm>
            <a:off x="754380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Planted text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754380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Injected labels, caught by the check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754380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0:50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509760" y="178308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33" name="demo icon 5 disc"/>
          <p:cNvSpPr/>
          <p:nvPr/>
        </p:nvSpPr>
        <p:spPr>
          <a:xfrm>
            <a:off x="9784080" y="196596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4" name="demo icon 5" descr="MobileA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7699" y="2119579"/>
            <a:ext cx="332842" cy="33284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97280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6" name="Text 29"/>
          <p:cNvSpPr txBox="1"/>
          <p:nvPr/>
        </p:nvSpPr>
        <p:spPr>
          <a:xfrm>
            <a:off x="97840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Android</a:t>
            </a:r>
            <a:endParaRPr lang="en-US" sz="1700" dirty="0"/>
          </a:p>
        </p:txBody>
      </p:sp>
      <p:sp>
        <p:nvSpPr>
          <p:cNvPr id="37" name="Text 30"/>
          <p:cNvSpPr txBox="1"/>
          <p:nvPr/>
        </p:nvSpPr>
        <p:spPr>
          <a:xfrm>
            <a:off x="978408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French settings: rules fail, model rescues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978408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0:50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548640" y="5166360"/>
            <a:ext cx="11094415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822960" y="516636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node Kenna/agent/demo_adversarial.mjs --headed     ·     Android: Kenna/path-b/dashboard.py with the emulator on screen first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Limits and honesty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What the evidence supports, and what it does not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WE CAN SHOW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Survival of UI change on a mock web app and Android Settings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checked model rung that is never trusted alone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Honest failure in plain words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Measured, not evaded, protection behaviour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422392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WE DO NOT CLAIM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860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Results on Instagram, Daraz or OLX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Results for more than one model so far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Any user study with screen-reader users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Fingerprint or telemetry stealth: out of scope on purpose</a:t>
            </a:r>
            <a:endParaRPr lang="en-US" sz="1600" dirty="0"/>
          </a:p>
        </p:txBody>
      </p:sp>
      <p:sp>
        <p:nvSpPr>
          <p:cNvPr id="10" name="caught bug panel"/>
          <p:cNvSpPr/>
          <p:nvPr/>
        </p:nvSpPr>
        <p:spPr>
          <a:xfrm>
            <a:off x="548640" y="4846320"/>
            <a:ext cx="11094415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846320"/>
            <a:ext cx="104543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What we caught ourselves: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state leak between test arms made a bare model look broken on a clean app. We found it, proved it on a fresh page, fixed the harness and re-ran every model result.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Conclusion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 verified, self-healing way to operate apps that offer no other interface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Intent + check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Goals instead of locators, with success judged on the next screen.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Survives change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7 of 8 single UI changes survived by rules alone; the rest stop honestly.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Model as a candidate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Rescues drift the rules cannot read, and is never trusted alone.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NEXT</a:t>
            </a:r>
            <a:endParaRPr lang="en-US" sz="1100" dirty="0"/>
          </a:p>
        </p:txBody>
      </p:sp>
      <p:sp>
        <p:nvSpPr>
          <p:cNvPr id="14" name="next dot 1"/>
          <p:cNvSpPr/>
          <p:nvPr/>
        </p:nvSpPr>
        <p:spPr>
          <a:xfrm>
            <a:off x="548640" y="441655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Scrolling on Android</a:t>
            </a:r>
            <a:endParaRPr lang="en-US" sz="1600" dirty="0"/>
          </a:p>
        </p:txBody>
      </p:sp>
      <p:sp>
        <p:nvSpPr>
          <p:cNvPr id="16" name="next dot 2"/>
          <p:cNvSpPr/>
          <p:nvPr/>
        </p:nvSpPr>
        <p:spPr>
          <a:xfrm>
            <a:off x="4297680" y="441655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0916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second model</a:t>
            </a:r>
            <a:endParaRPr lang="en-US" sz="1600" dirty="0"/>
          </a:p>
        </p:txBody>
      </p:sp>
      <p:sp>
        <p:nvSpPr>
          <p:cNvPr id="18" name="next dot 3"/>
          <p:cNvSpPr/>
          <p:nvPr/>
        </p:nvSpPr>
        <p:spPr>
          <a:xfrm>
            <a:off x="8046720" y="441655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5820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More apps and intents</a:t>
            </a:r>
            <a:endParaRPr lang="en-US" sz="1600" dirty="0"/>
          </a:p>
        </p:txBody>
      </p:sp>
      <p:sp>
        <p:nvSpPr>
          <p:cNvPr id="20" name="next dot 4"/>
          <p:cNvSpPr/>
          <p:nvPr/>
        </p:nvSpPr>
        <p:spPr>
          <a:xfrm>
            <a:off x="548640" y="519379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120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study with screen-reader users</a:t>
            </a:r>
            <a:endParaRPr lang="en-US" sz="1600" dirty="0"/>
          </a:p>
        </p:txBody>
      </p:sp>
      <p:sp>
        <p:nvSpPr>
          <p:cNvPr id="22" name="next dot 5"/>
          <p:cNvSpPr/>
          <p:nvPr/>
        </p:nvSpPr>
        <p:spPr>
          <a:xfrm>
            <a:off x="4297680" y="519379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09160" y="5120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synthie using the tool end to end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ba logo slot"/>
          <p:cNvSpPr/>
          <p:nvPr/>
        </p:nvSpPr>
        <p:spPr>
          <a:xfrm>
            <a:off x="548640" y="502920"/>
            <a:ext cx="2377440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rgbClr val="8A8F98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IBA Karachi logo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(drop file in presentation/assets/logos/iba.png)</a:t>
            </a:r>
            <a:endParaRPr lang="en-US" sz="1000" dirty="0"/>
          </a:p>
        </p:txBody>
      </p:sp>
      <p:sp>
        <p:nvSpPr>
          <p:cNvPr id="4" name="isecom logo slot"/>
          <p:cNvSpPr/>
          <p:nvPr/>
        </p:nvSpPr>
        <p:spPr>
          <a:xfrm>
            <a:off x="9265615" y="502920"/>
            <a:ext cx="2377440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rgbClr val="8A8F98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265615" y="502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ISECOM logo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(drop file in presentation/assets/logos/isecom.png)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20116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Questions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Sharique Baig · Maira Aijaz · Barkhi Khan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Appendix: frequently asked questions follow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FAQ 1–2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we expect, and our honest answers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Why not just use an API or MCP?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Use it when it exists. Many local apps offer none, so the screen is the only interface. This project is for that gap, and it still verifies each step.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Why does the model never act alone?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Its pick is a candidate: it can only name an on-screen control by number, and the next screen must confirm it. Publishing needs confidence of at least 0.8.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FAQ 3–4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we expect, and our honest answers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if it cannot find the control?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It stops, says which step failed and why, and ends with "You may need to do this step yourself." No guessing, no blind retries.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Did you test on Instagram, Daraz or OLX?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No. We tested our own mock web app and Android Settings on an emulator. Daraz and OLX are the target class, not an evaluated one.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FAQ 5–6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we expect, and our honest answers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Do you evade bot detection?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No. It is out of scope by design. We measure how a protection layer treats the agent and report it. We do not spoof or bypass.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Is this specific to one model?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 far we ran one model (qwen3.7-flash). A second model is the first planned follow-up. The rules-only results do not use a model.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FAQ 7–8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we expect, and our honest answers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does N = 10 mean with a cache?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Repeats at temperature 0 with cached answers show variation in the app and harness, not model sampling. We report 95% Wilson intervals: 10 of 10 is 72–100%.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How does this help a blind user? Tested with one?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Our instrument is the accessibility tree a screen reader reads, and failures are spoken in plain words. No user study yet; it is the main gap.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FAQ 9–10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we expect, and our honest answers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went wrong, and how did you fix it?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state leak between test arms made a bare model look broken on a clean app. We proved it on a fresh page, fixed the harness and re-ran every model result.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is next?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Scrolling on Android, a second model, more apps and intents, a study with screen-reader users, and a synthie using the tool end to end.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A FYP Academic">
  <a:themeElements>
    <a:clrScheme name="IBA FYP Academic">
      <a:dk1>
        <a:srgbClr val="2B2124"/>
      </a:dk1>
      <a:lt1>
        <a:srgbClr val="FFFFFF"/>
      </a:lt1>
      <a:dk2>
        <a:srgbClr val="6B1A2A"/>
      </a:dk2>
      <a:lt2>
        <a:srgbClr val="F6F1F0"/>
      </a:lt2>
      <a:accent1>
        <a:srgbClr val="8C2338"/>
      </a:accent1>
      <a:accent2>
        <a:srgbClr val="C8963E"/>
      </a:accent2>
      <a:accent3>
        <a:srgbClr val="C75B12"/>
      </a:accent3>
      <a:accent4>
        <a:srgbClr val="6B6F78"/>
      </a:accent4>
      <a:accent5>
        <a:srgbClr val="EBD9DC"/>
      </a:accent5>
      <a:accent6>
        <a:srgbClr val="4A5568"/>
      </a:accent6>
      <a:hlink>
        <a:srgbClr val="8C2338"/>
      </a:hlink>
      <a:folHlink>
        <a:srgbClr val="8A8F98"/>
      </a:folHlink>
    </a:clrScheme>
    <a:fontScheme name="IBA FYP Academ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MCPs - FYP defense</dc:title>
  <dc:subject>PptxGenJS Presentation</dc:subject>
  <dc:creator>Sharique Baig, Maira Aijaz, Barkhi Khan</dc:creator>
  <cp:lastModifiedBy>Sharique Baig, Maira Aijaz, Barkhi Khan</cp:lastModifiedBy>
  <cp:revision>1</cp:revision>
  <dcterms:created xsi:type="dcterms:W3CDTF">2026-10-29T13:45:58Z</dcterms:created>
  <dcterms:modified xsi:type="dcterms:W3CDTF">2026-10-29T13:45:58Z</dcterms:modified>
</cp:coreProperties>
</file>